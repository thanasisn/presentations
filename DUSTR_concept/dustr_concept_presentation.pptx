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DOD Retrieval from MTG Satellite Data with Machine Learning (DUSTR)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Athanasios N. Natsis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Goal</a:t>
            </a:r>
          </a:p>
          <a:p>
            <a:pPr lvl="0" indent="0" marL="0">
              <a:buNone/>
            </a:pPr>
            <a:r>
              <a:rPr b="1"/>
              <a:t>Retrieve information on dust from GEO satellite images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/>
            <a:r>
              <a:rPr/>
              <a:t>Use Meteosat Third Generation (MTG) high-temporal resolution satellite data</a:t>
            </a:r>
          </a:p>
          <a:p>
            <a:pPr lvl="0"/>
            <a:r>
              <a:rPr/>
              <a:t>Do retrieval of DOD (Dust Optical Depth)</a:t>
            </a:r>
          </a:p>
          <a:p>
            <a:pPr lvl="0"/>
            <a:r>
              <a:rPr/>
              <a:t>There are already analytical methods (have limitations)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Main research Questions</a:t>
            </a:r>
          </a:p>
          <a:p>
            <a:pPr lvl="0"/>
            <a:r>
              <a:rPr/>
              <a:t>Can ML models improve DOD retrieval accuracy?</a:t>
            </a:r>
          </a:p>
          <a:p>
            <a:pPr lvl="0"/>
            <a:r>
              <a:rPr/>
              <a:t>Can ML models achieve a generalized retrieval scheme?</a:t>
            </a:r>
          </a:p>
          <a:p>
            <a:pPr lvl="0"/>
            <a:r>
              <a:rPr/>
              <a:t>Which are the most important input variables?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General implementation/workflow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Get/create relevant data</a:t>
            </a:r>
          </a:p>
          <a:p>
            <a:pPr lvl="0" indent="-342900" marL="342900">
              <a:buAutoNum type="arabicPeriod"/>
            </a:pPr>
            <a:r>
              <a:rPr/>
              <a:t>Train &amp; optimize multiple ML</a:t>
            </a:r>
          </a:p>
          <a:p>
            <a:pPr lvl="0" indent="-342900" marL="342900">
              <a:buAutoNum type="arabicPeriod"/>
            </a:pPr>
            <a:r>
              <a:rPr/>
              <a:t>Select/find what works well</a:t>
            </a:r>
          </a:p>
          <a:p>
            <a:pPr lvl="0" indent="-342900" marL="342900">
              <a:buAutoNum type="arabicPeriod"/>
            </a:pPr>
            <a:r>
              <a:rPr/>
              <a:t>Analyze scope of ML application</a:t>
            </a:r>
          </a:p>
          <a:p>
            <a:pPr lvl="0" indent="-342900" marL="342900">
              <a:buAutoNum type="arabicPeriod"/>
            </a:pPr>
            <a:r>
              <a:rPr/>
              <a:t>Independent validation</a:t>
            </a:r>
          </a:p>
          <a:p>
            <a:pPr lvl="0" indent="-342900" marL="342900">
              <a:buAutoNum type="arabicPeriod"/>
            </a:pPr>
            <a:r>
              <a:rPr/>
              <a:t>Final retrieval product/method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Target Data Sources</a:t>
            </a:r>
          </a:p>
          <a:p>
            <a:pPr lvl="0"/>
            <a:r>
              <a:rPr b="1"/>
              <a:t>SLSTR Level 2 Aerosol Optical Depth - Sentinel-3</a:t>
            </a:r>
          </a:p>
          <a:p>
            <a:pPr lvl="1"/>
            <a:r>
              <a:rPr/>
              <a:t>9.5 × 9.5 km</a:t>
            </a:r>
            <a:r>
              <a:rPr baseline="30000"/>
              <a:t>2</a:t>
            </a:r>
          </a:p>
          <a:p>
            <a:pPr lvl="1"/>
            <a:r>
              <a:rPr/>
              <a:t>Continuous LEO swaths</a:t>
            </a:r>
          </a:p>
          <a:p>
            <a:pPr lvl="1"/>
            <a:r>
              <a:rPr/>
              <a:t>Initial development, now stopped</a:t>
            </a:r>
          </a:p>
          <a:p>
            <a:pPr lvl="0"/>
            <a:r>
              <a:rPr b="1"/>
              <a:t>EarthCARE (current use)</a:t>
            </a:r>
          </a:p>
          <a:p>
            <a:pPr lvl="1"/>
            <a:r>
              <a:rPr/>
              <a:t>Point measurements</a:t>
            </a:r>
          </a:p>
          <a:p>
            <a:pPr lvl="1"/>
            <a:r>
              <a:rPr/>
              <a:t>Continuous LEO swaths</a:t>
            </a:r>
          </a:p>
          <a:p>
            <a:pPr lvl="1"/>
            <a:r>
              <a:rPr/>
              <a:t>OREO product…</a:t>
            </a:r>
          </a:p>
          <a:p>
            <a:pPr lvl="2" indent="-342900" marL="1028700">
              <a:buAutoNum type="arabicPeriod"/>
            </a:pPr>
            <a:r>
              <a:rPr b="1"/>
              <a:t>DOD @ 355 nm</a:t>
            </a:r>
            <a:r>
              <a:rPr/>
              <a:t> from vertical profiles</a:t>
            </a:r>
          </a:p>
          <a:p>
            <a:pPr lvl="2" indent="-342900" marL="1028700">
              <a:buAutoNum type="arabicPeriod"/>
            </a:pPr>
            <a:r>
              <a:rPr b="1"/>
              <a:t>Total mass</a:t>
            </a:r>
            <a:r>
              <a:rPr/>
              <a:t> from vertical profiles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Features Data Sources</a:t>
            </a:r>
          </a:p>
          <a:p>
            <a:pPr lvl="0"/>
            <a:r>
              <a:rPr b="1"/>
              <a:t>FCI</a:t>
            </a:r>
            <a:r>
              <a:rPr/>
              <a:t> Level 1c Normal Resolution Image Data - MTG - 0 degree</a:t>
            </a:r>
          </a:p>
          <a:p>
            <a:pPr lvl="1"/>
            <a:r>
              <a:rPr/>
              <a:t>16 spectral channels / 10 minutes @ 1 - 2 km</a:t>
            </a:r>
          </a:p>
          <a:p>
            <a:pPr lvl="0"/>
            <a:r>
              <a:rPr b="1"/>
              <a:t>Cloud Mask</a:t>
            </a:r>
            <a:r>
              <a:rPr/>
              <a:t> - MTG - 0 degree (from FCI)</a:t>
            </a:r>
          </a:p>
          <a:p>
            <a:pPr lvl="1"/>
            <a:r>
              <a:rPr/>
              <a:t>/ 10 minutes @ 2 km</a:t>
            </a:r>
          </a:p>
          <a:p>
            <a:pPr lvl="0"/>
            <a:r>
              <a:rPr b="1"/>
              <a:t>ERA5</a:t>
            </a:r>
            <a:r>
              <a:rPr/>
              <a:t> hourly data on single levels</a:t>
            </a:r>
          </a:p>
          <a:p>
            <a:pPr lvl="1"/>
            <a:r>
              <a:rPr/>
              <a:t>/ 1 h @ 0.25° × 0.25°</a:t>
            </a:r>
          </a:p>
          <a:p>
            <a:pPr lvl="1"/>
            <a:r>
              <a:rPr/>
              <a:t>27 variables on the surface</a:t>
            </a:r>
          </a:p>
          <a:p>
            <a:pPr lvl="0"/>
            <a:r>
              <a:rPr/>
              <a:t>LSA/SAF MTG Land Surface Temperature (</a:t>
            </a:r>
            <a:r>
              <a:rPr b="1"/>
              <a:t>MTLST</a:t>
            </a:r>
            <a:r>
              <a:rPr/>
              <a:t>) from FCI</a:t>
            </a:r>
          </a:p>
          <a:p>
            <a:pPr lvl="1"/>
            <a:r>
              <a:rPr/>
              <a:t>/ 10 minutes @ 2 km</a:t>
            </a:r>
          </a:p>
          <a:p>
            <a:pPr lvl="1"/>
            <a:r>
              <a:rPr/>
              <a:t>not used for now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Other Data</a:t>
            </a:r>
          </a:p>
          <a:p>
            <a:pPr lvl="0"/>
            <a:r>
              <a:rPr b="1"/>
              <a:t>SZA</a:t>
            </a:r>
            <a:r>
              <a:rPr/>
              <a:t> calculated for each grid point/time</a:t>
            </a:r>
          </a:p>
          <a:p>
            <a:pPr lvl="0"/>
            <a:r>
              <a:rPr b="1"/>
              <a:t>Land mask</a:t>
            </a:r>
            <a:r>
              <a:rPr/>
              <a:t> created from OSM polygons data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preprocess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Date range: </a:t>
            </a:r>
            <a:r>
              <a:rPr b="1"/>
              <a:t>2025-03-19 – 2025-05-10</a:t>
            </a:r>
          </a:p>
          <a:p>
            <a:pPr lvl="0"/>
            <a:r>
              <a:rPr/>
              <a:t>Temporal resolution: </a:t>
            </a:r>
            <a:r>
              <a:rPr b="1"/>
              <a:t>30 minutes</a:t>
            </a:r>
          </a:p>
          <a:p>
            <a:pPr lvl="1"/>
            <a:r>
              <a:rPr/>
              <a:t>May half temporal resolution and double date range</a:t>
            </a:r>
          </a:p>
          <a:p>
            <a:pPr lvl="0"/>
            <a:r>
              <a:rPr/>
              <a:t>Domain: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45N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-30W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45E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Regrid on regular grid: </a:t>
            </a:r>
            <a:r>
              <a:rPr b="1"/>
              <a:t>0.02° × 0.02°</a:t>
            </a:r>
          </a:p>
          <a:p>
            <a:pPr lvl="1"/>
            <a:r>
              <a:rPr/>
              <a:t>Near the resolution finer available data</a:t>
            </a:r>
          </a:p>
          <a:p>
            <a:pPr lvl="1"/>
            <a:r>
              <a:rPr/>
              <a:t>Data representation on the grid coordinates (center of cell)</a:t>
            </a:r>
          </a:p>
          <a:p>
            <a:pPr lvl="0" indent="0" marL="0">
              <a:buNone/>
            </a:pPr>
            <a:r>
              <a:rPr/>
              <a:t>Regrid methods:</a:t>
            </a:r>
          </a:p>
          <a:p>
            <a:pPr lvl="0"/>
            <a:r>
              <a:rPr/>
              <a:t>EarthCARE -&gt; mean values within the cells</a:t>
            </a:r>
          </a:p>
          <a:p>
            <a:pPr lvl="0"/>
            <a:r>
              <a:rPr/>
              <a:t>Rest of data -&gt; </a:t>
            </a:r>
            <a:r>
              <a:rPr b="1"/>
              <a:t>nearest</a:t>
            </a:r>
            <a:r>
              <a:rPr/>
              <a:t> values to grid</a:t>
            </a:r>
          </a:p>
          <a:p>
            <a:pPr lvl="1"/>
            <a:r>
              <a:rPr/>
              <a:t>Keep actual values no spatial smoothing/interpolation</a:t>
            </a:r>
          </a:p>
          <a:p>
            <a:pPr lvl="0"/>
            <a:r>
              <a:rPr/>
              <a:t>ERA5 -&gt; temporal interpolation within hourly data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Raw Data view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Calculated DOD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Regrided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Machine Learning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Current “easy” approach, well sellected data</a:t>
            </a:r>
          </a:p>
          <a:p>
            <a:pPr lvl="0"/>
            <a:r>
              <a:rPr/>
              <a:t>Land only</a:t>
            </a:r>
          </a:p>
          <a:p>
            <a:pPr lvl="0"/>
            <a:r>
              <a:rPr/>
              <a:t>No clouds</a:t>
            </a:r>
          </a:p>
          <a:p>
            <a:pPr lvl="0"/>
            <a:r>
              <a:rPr/>
              <a:t>Sun lit domain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Train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194442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Valid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41340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41550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14.9%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Potencial problems</a:t>
            </a:r>
          </a:p>
          <a:p>
            <a:pPr lvl="0"/>
            <a:r>
              <a:rPr/>
              <a:t>Good results, but maybe too easy too fast …?</a:t>
            </a:r>
          </a:p>
          <a:p>
            <a:pPr lvl="0"/>
            <a:r>
              <a:rPr/>
              <a:t>Apply ML model:</a:t>
            </a:r>
          </a:p>
          <a:p>
            <a:pPr lvl="1"/>
            <a:r>
              <a:rPr/>
              <a:t>over the oceans?</a:t>
            </a:r>
          </a:p>
          <a:p>
            <a:pPr lvl="1"/>
            <a:r>
              <a:rPr/>
              <a:t>with mixed clouds?</a:t>
            </a:r>
          </a:p>
          <a:p>
            <a:pPr lvl="1"/>
            <a:r>
              <a:rPr/>
              <a:t>longer time ranges of other periods of year?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training/tuning iterative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Multiple features importance metrics implemented</a:t>
            </a:r>
          </a:p>
          <a:p>
            <a:pPr lvl="0"/>
            <a:r>
              <a:rPr/>
              <a:t>Initial evaluation of 9 ML models</a:t>
            </a:r>
          </a:p>
          <a:p>
            <a:pPr lvl="0"/>
            <a:r>
              <a:rPr/>
              <a:t>Keeping most promising:</a:t>
            </a:r>
          </a:p>
          <a:p>
            <a:pPr lvl="1"/>
            <a:r>
              <a:rPr b="1"/>
              <a:t>Decision Tree</a:t>
            </a:r>
          </a:p>
          <a:p>
            <a:pPr lvl="1"/>
            <a:r>
              <a:rPr b="1"/>
              <a:t>Random Forest</a:t>
            </a:r>
          </a:p>
          <a:p>
            <a:pPr lvl="1"/>
            <a:r>
              <a:rPr b="1"/>
              <a:t>XGBoost</a:t>
            </a:r>
          </a:p>
          <a:p>
            <a:pPr lvl="0"/>
            <a:r>
              <a:rPr/>
              <a:t>Iteratibe Hyperparameter optimization (2 approaches)</a:t>
            </a:r>
          </a:p>
          <a:p>
            <a:pPr lvl="1"/>
            <a:r>
              <a:rPr/>
              <a:t>Minimize </a:t>
            </a:r>
            <a:r>
              <a:rPr b="1"/>
              <a:t>MSE</a:t>
            </a:r>
            <a:r>
              <a:rPr/>
              <a:t> with manual features selection (multiple validation metrics are evaluated)</a:t>
            </a:r>
          </a:p>
          <a:p>
            <a:pPr lvl="1"/>
            <a:r>
              <a:rPr/>
              <a:t>Minimize </a:t>
            </a:r>
            <a:r>
              <a:rPr b="1"/>
              <a:t>MSE</a:t>
            </a:r>
            <a:r>
              <a:rPr/>
              <a:t> with automatic methods of features selection (multiple validation metrics are evaluated)</a:t>
            </a:r>
          </a:p>
          <a:p>
            <a:pPr lvl="1"/>
            <a:r>
              <a:rPr/>
              <a:t>Multiple validation metrics are evaluated on each batch’s best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Temporary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Mutliple ML models with very good metrics!?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700"/>
                <a:gridCol w="1270000"/>
                <a:gridCol w="596900"/>
                <a:gridCol w="749300"/>
                <a:gridCol w="825500"/>
                <a:gridCol w="7493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Best_r2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Best_rmse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Best_mae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DOD_a355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Decision 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0.9659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Random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0.9714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0.0169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XGBoost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0.9749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Total_mass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Decision 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0.9538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346.6828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137.7835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Random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0.9714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272.8909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123.6965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XGBoost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0.9762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248.7359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123.7431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 you need more metrics?? Propose!</a:t>
            </a:r>
          </a:p>
          <a:p>
            <a:pPr lvl="0" indent="0" marL="0">
              <a:buNone/>
            </a:pPr>
            <a:r>
              <a:rPr b="1"/>
              <a:t>R</a:t>
            </a:r>
            <a:r>
              <a:rPr b="1" baseline="30000"/>
              <a:t>2</a:t>
            </a:r>
            <a:r>
              <a:rPr/>
              <a:t>, </a:t>
            </a:r>
            <a:r>
              <a:rPr b="1"/>
              <a:t>RMSE</a:t>
            </a:r>
            <a:r>
              <a:rPr/>
              <a:t>, </a:t>
            </a:r>
            <a:r>
              <a:rPr b="1"/>
              <a:t>MAE</a:t>
            </a:r>
            <a:r>
              <a:rPr/>
              <a:t>, </a:t>
            </a:r>
            <a:r>
              <a:rPr b="1"/>
              <a:t>MSE</a:t>
            </a:r>
            <a:r>
              <a:rPr/>
              <a:t>, </a:t>
            </a:r>
            <a:r>
              <a:rPr b="1"/>
              <a:t>N_samples</a:t>
            </a:r>
            <a:r>
              <a:rPr/>
              <a:t>, </a:t>
            </a:r>
            <a:r>
              <a:rPr b="1"/>
              <a:t>pred_min</a:t>
            </a:r>
            <a:r>
              <a:rPr/>
              <a:t>, </a:t>
            </a:r>
            <a:r>
              <a:rPr b="1"/>
              <a:t>pred_max</a:t>
            </a:r>
            <a:r>
              <a:rPr/>
              <a:t>, </a:t>
            </a:r>
            <a:r>
              <a:rPr b="1"/>
              <a:t>pred_mean</a:t>
            </a:r>
            <a:r>
              <a:rPr/>
              <a:t>, </a:t>
            </a:r>
            <a:r>
              <a:rPr b="1"/>
              <a:t>pred_std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Things missing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Cross-validation with independent data</a:t>
            </a:r>
          </a:p>
          <a:p>
            <a:pPr lvl="0"/>
            <a:r>
              <a:rPr/>
              <a:t>Multi season evaluation/training</a:t>
            </a:r>
          </a:p>
          <a:p>
            <a:pPr lvl="0"/>
            <a:r>
              <a:rPr/>
              <a:t>Regional Validation</a:t>
            </a:r>
          </a:p>
          <a:p>
            <a:pPr lvl="1"/>
            <a:r>
              <a:rPr/>
              <a:t>Mediterranean</a:t>
            </a:r>
          </a:p>
          <a:p>
            <a:pPr lvl="1"/>
            <a:r>
              <a:rPr/>
              <a:t>Middle East</a:t>
            </a:r>
          </a:p>
          <a:p>
            <a:pPr lvl="1"/>
            <a:r>
              <a:rPr/>
              <a:t>Atlantic</a:t>
            </a:r>
          </a:p>
          <a:p>
            <a:pPr lvl="1"/>
            <a:r>
              <a:rPr/>
              <a:t>North Africa</a:t>
            </a:r>
          </a:p>
          <a:p>
            <a:pPr lvl="0"/>
            <a:r>
              <a:rPr/>
              <a:t>Analyses of the effects of:</a:t>
            </a:r>
          </a:p>
          <a:p>
            <a:pPr lvl="1"/>
            <a:r>
              <a:rPr/>
              <a:t>Data selection (no cloudy, over land)</a:t>
            </a:r>
          </a:p>
          <a:p>
            <a:pPr lvl="1"/>
            <a:r>
              <a:rPr/>
              <a:t>Features (physical meaning, relation to analytical methods</a:t>
            </a:r>
          </a:p>
          <a:p>
            <a:pPr lvl="1"/>
            <a:r>
              <a:rPr/>
              <a:t>Hyperparameters of the models</a:t>
            </a:r>
          </a:p>
          <a:p>
            <a:pPr lvl="0"/>
            <a:r>
              <a:rPr/>
              <a:t>More/other variables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Contact:</a:t>
            </a:r>
          </a:p>
          <a:p>
            <a:pPr lvl="0"/>
            <a:r>
              <a:rPr/>
              <a:t>Email: anatsis@noa.gr</a:t>
            </a:r>
          </a:p>
          <a:p>
            <a:pPr lvl="0"/>
            <a:r>
              <a:rPr/>
              <a:t>Project: github.com/NOA-ReACT/DUSTR </a:t>
            </a:r>
          </a:p>
          <a:p>
            <a:pPr lvl="0" indent="0" marL="0">
              <a:buNone/>
            </a:pPr>
            <a:r>
              <a:rPr b="1"/>
              <a:t>Presentation:</a:t>
            </a:r>
          </a:p>
          <a:p>
            <a:pPr lvl="0" indent="0" marL="0">
              <a:buNone/>
            </a:pPr>
            <a:r>
              <a:rPr b="1"/>
              <a:t>Q&amp;A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of features importance selection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 of all variables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DOD Retrieval from MTG Satellite Data with Machine Learning (DUSTR)</dc:title>
  <dc:creator>Athanasios N. Natsis</dc:creator>
  <cp:keywords/>
  <dcterms:created xsi:type="dcterms:W3CDTF">2026-05-19T09:46:15Z</dcterms:created>
  <dcterms:modified xsi:type="dcterms:W3CDTF">2026-05-19T09:46:15Z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dustr_references.bib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sl">
    <vt:lpwstr>https://www.zotero.org/styles/american-meteorological-society</vt:lpwstr>
  </property>
  <property fmtid="{D5CDD505-2E9C-101B-9397-08002B2CF9AE}" pid="9" name="date">
    <vt:lpwstr>2026-05-19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toc-title">
    <vt:lpwstr>Table of contents</vt:lpwstr>
  </property>
</Properties>
</file>