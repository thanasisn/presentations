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jpeg" ContentType="image/jpeg"/>
  <Override PartName="/ppt/media/image5.png" ContentType="image/png"/>
  <Override PartName="/ppt/media/image6.png" ContentType="image/pn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20.xml.rels" ContentType="application/vnd.openxmlformats-package.relationships+xml"/>
  <Override PartName="/ppt/notesSlides/_rels/notesSlide13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9144000" cy="5148263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B40C5BB-5F62-40B7-956E-CBC593586E0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spatial on the Earth surface is 4km at nadir, increasing up to 10km, and above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160 x 160 interferograms and four broad-band high-resolution images for each spectral band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concurrent ‘full disc scan’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160 x 160 x (877;1076)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81BA056-7B35-42DD-B8F2-8AC10D8BA8E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SAFs in general have data and Software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989CE43-041B-4A2E-A427-DD3FF2A8BE2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52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0960"/>
            <a:ext cx="4037400" cy="339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text styles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648320" y="1200960"/>
            <a:ext cx="4037400" cy="339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457200" y="4771080"/>
            <a:ext cx="213264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3124080" y="4771080"/>
            <a:ext cx="28944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6553080" y="4771080"/>
            <a:ext cx="213264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C1EC220-3972-4283-B503-5285C4941552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52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152000"/>
            <a:ext cx="4039200" cy="4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1632240"/>
            <a:ext cx="4039200" cy="296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4645080" y="1152000"/>
            <a:ext cx="4040640" cy="4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4645080" y="1632240"/>
            <a:ext cx="4040640" cy="296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dt" idx="4"/>
          </p:nvPr>
        </p:nvSpPr>
        <p:spPr>
          <a:xfrm>
            <a:off x="457200" y="4771080"/>
            <a:ext cx="213264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7"/>
          <p:cNvSpPr>
            <a:spLocks noGrp="1"/>
          </p:cNvSpPr>
          <p:nvPr>
            <p:ph type="ftr" idx="5"/>
          </p:nvPr>
        </p:nvSpPr>
        <p:spPr>
          <a:xfrm>
            <a:off x="3124080" y="4771080"/>
            <a:ext cx="28944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8"/>
          <p:cNvSpPr>
            <a:spLocks noGrp="1"/>
          </p:cNvSpPr>
          <p:nvPr>
            <p:ph type="sldNum" idx="6"/>
          </p:nvPr>
        </p:nvSpPr>
        <p:spPr>
          <a:xfrm>
            <a:off x="6553080" y="4771080"/>
            <a:ext cx="213264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2178E12-2ED2-4327-93E1-EA5FBEE90585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52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dt" idx="7"/>
          </p:nvPr>
        </p:nvSpPr>
        <p:spPr>
          <a:xfrm>
            <a:off x="457200" y="4771080"/>
            <a:ext cx="213264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8"/>
          </p:nvPr>
        </p:nvSpPr>
        <p:spPr>
          <a:xfrm>
            <a:off x="3124080" y="4771080"/>
            <a:ext cx="28944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9"/>
          </p:nvPr>
        </p:nvSpPr>
        <p:spPr>
          <a:xfrm>
            <a:off x="6553080" y="4771080"/>
            <a:ext cx="213264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97DA561-4593-4815-927C-71A13F341D5B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520" cy="298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dt" idx="10"/>
          </p:nvPr>
        </p:nvSpPr>
        <p:spPr>
          <a:xfrm>
            <a:off x="457200" y="4771080"/>
            <a:ext cx="213264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ftr" idx="11"/>
          </p:nvPr>
        </p:nvSpPr>
        <p:spPr>
          <a:xfrm>
            <a:off x="3124080" y="4771080"/>
            <a:ext cx="28944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sldNum" idx="12"/>
          </p:nvPr>
        </p:nvSpPr>
        <p:spPr>
          <a:xfrm>
            <a:off x="6553080" y="4771080"/>
            <a:ext cx="213264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E9C7EA6-942A-45B4-B193-E2E50161B864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body"/>
          </p:nvPr>
        </p:nvSpPr>
        <p:spPr>
          <a:xfrm>
            <a:off x="457200" y="1204200"/>
            <a:ext cx="8228520" cy="298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08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3575160" y="204840"/>
            <a:ext cx="5110560" cy="439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57200" y="1077120"/>
            <a:ext cx="3007080" cy="352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3"/>
          </p:nvPr>
        </p:nvSpPr>
        <p:spPr>
          <a:xfrm>
            <a:off x="457200" y="4771080"/>
            <a:ext cx="213264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4"/>
          </p:nvPr>
        </p:nvSpPr>
        <p:spPr>
          <a:xfrm>
            <a:off x="3124080" y="4771080"/>
            <a:ext cx="28944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5"/>
          </p:nvPr>
        </p:nvSpPr>
        <p:spPr>
          <a:xfrm>
            <a:off x="6553080" y="4771080"/>
            <a:ext cx="213264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36880C8-6212-4723-9A90-519A9870CD0D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792440" y="3603240"/>
            <a:ext cx="5485320" cy="4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1792440" y="460080"/>
            <a:ext cx="5485320" cy="30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1792440" y="4028760"/>
            <a:ext cx="5485320" cy="60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6"/>
          </p:nvPr>
        </p:nvSpPr>
        <p:spPr>
          <a:xfrm>
            <a:off x="457200" y="4771080"/>
            <a:ext cx="213264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17"/>
          </p:nvPr>
        </p:nvSpPr>
        <p:spPr>
          <a:xfrm>
            <a:off x="3124080" y="4771080"/>
            <a:ext cx="28944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sldNum" idx="18"/>
          </p:nvPr>
        </p:nvSpPr>
        <p:spPr>
          <a:xfrm>
            <a:off x="6553080" y="4771080"/>
            <a:ext cx="213264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69E52C6-64A2-4A6A-AF34-9DE7C36947A6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85800" y="1598760"/>
            <a:ext cx="7771320" cy="110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dt" idx="19"/>
          </p:nvPr>
        </p:nvSpPr>
        <p:spPr>
          <a:xfrm>
            <a:off x="457200" y="4771080"/>
            <a:ext cx="213264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ftr" idx="20"/>
          </p:nvPr>
        </p:nvSpPr>
        <p:spPr>
          <a:xfrm>
            <a:off x="3124080" y="4771080"/>
            <a:ext cx="28944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sldNum" idx="21"/>
          </p:nvPr>
        </p:nvSpPr>
        <p:spPr>
          <a:xfrm>
            <a:off x="6553080" y="4771080"/>
            <a:ext cx="213264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382B94D-51F2-46FA-BF50-2DBE4E42273A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57200" y="1204200"/>
            <a:ext cx="8228520" cy="298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52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0960"/>
            <a:ext cx="8228520" cy="339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22"/>
          </p:nvPr>
        </p:nvSpPr>
        <p:spPr>
          <a:xfrm>
            <a:off x="457200" y="4771080"/>
            <a:ext cx="213264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23"/>
          </p:nvPr>
        </p:nvSpPr>
        <p:spPr>
          <a:xfrm>
            <a:off x="3124080" y="4771080"/>
            <a:ext cx="28944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24"/>
          </p:nvPr>
        </p:nvSpPr>
        <p:spPr>
          <a:xfrm>
            <a:off x="6553080" y="4771080"/>
            <a:ext cx="213264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28519AE-A3F1-4FD7-B14A-5B6CEB4DF38B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629400" y="205920"/>
            <a:ext cx="2056320" cy="439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205920"/>
            <a:ext cx="6018840" cy="439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25"/>
          </p:nvPr>
        </p:nvSpPr>
        <p:spPr>
          <a:xfrm>
            <a:off x="457200" y="4771080"/>
            <a:ext cx="213264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26"/>
          </p:nvPr>
        </p:nvSpPr>
        <p:spPr>
          <a:xfrm>
            <a:off x="3124080" y="4771080"/>
            <a:ext cx="28944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27"/>
          </p:nvPr>
        </p:nvSpPr>
        <p:spPr>
          <a:xfrm>
            <a:off x="6553080" y="4771080"/>
            <a:ext cx="213264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F72C323-5B7A-4EB2-A162-40FC3339C490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52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200960"/>
            <a:ext cx="8228520" cy="339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28"/>
          </p:nvPr>
        </p:nvSpPr>
        <p:spPr>
          <a:xfrm>
            <a:off x="457200" y="4771080"/>
            <a:ext cx="213264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29"/>
          </p:nvPr>
        </p:nvSpPr>
        <p:spPr>
          <a:xfrm>
            <a:off x="3124080" y="4771080"/>
            <a:ext cx="28944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30"/>
          </p:nvPr>
        </p:nvSpPr>
        <p:spPr>
          <a:xfrm>
            <a:off x="6553080" y="4771080"/>
            <a:ext cx="213264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027928A-1B66-43C7-AD22-E1FA3CC28625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722160" y="3307680"/>
            <a:ext cx="777132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722160" y="2181960"/>
            <a:ext cx="7771320" cy="112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457200" y="4771080"/>
            <a:ext cx="213264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3124080" y="4771080"/>
            <a:ext cx="28944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6553080" y="4771080"/>
            <a:ext cx="213264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4F08BBF-C763-4496-9CF1-C7254A293FF0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hyperlink" Target="https://www.eumetsat.int/meteosat-third-generation" TargetMode="External"/><Relationship Id="rId3" Type="http://schemas.openxmlformats.org/officeDocument/2006/relationships/hyperlink" Target="https://user.eumetsat.int/resources/user-guides/mtg-in-operations" TargetMode="External"/><Relationship Id="rId4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hyperlink" Target="https://www.eumetsat.int/meteosat-third-generation" TargetMode="External"/><Relationship Id="rId3" Type="http://schemas.openxmlformats.org/officeDocument/2006/relationships/hyperlink" Target="https://user.eumetsat.int/resources/user-guides/mtg-in-operations" TargetMode="External"/><Relationship Id="rId4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hyperlink" Target="https://user.eumetsat.int/resources/user-guides/mtg-fci-level-1c-data-guide" TargetMode="External"/><Relationship Id="rId2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data.eumetsat.int/extended?query=mtg" TargetMode="External"/><Relationship Id="rId2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https://user.eumetsat.int/resources/user-guides/using-mtg-lightning-imager-li-to-track-convective-storms" TargetMode="External"/><Relationship Id="rId2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https://doi.org/10.1175/2010JTECHA1405.1" TargetMode="External"/><Relationship Id="rId2" Type="http://schemas.openxmlformats.org/officeDocument/2006/relationships/hyperlink" Target="https://user.eumetsat.int/resources/user-guides/mtg-li-level-2-data-guide#" TargetMode="External"/><Relationship Id="rId3" Type="http://schemas.openxmlformats.org/officeDocument/2006/relationships/hyperlink" Target="https://user.eumetsat.int/resources/user-guides/mtg-li-level-2-data-guide#ID-Rejection-of-groups-prior-to-the-computation-of-flashes" TargetMode="External"/><Relationship Id="rId4" Type="http://schemas.openxmlformats.org/officeDocument/2006/relationships/hyperlink" Target="https://user.eumetsat.int/resources/user-guides/mtg-li-level-2-data-guide" TargetMode="External"/><Relationship Id="rId5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hyperlink" Target="https://doi.org/10.1175/2010JTECHA1405.1" TargetMode="External"/><Relationship Id="rId2" Type="http://schemas.openxmlformats.org/officeDocument/2006/relationships/hyperlink" Target="https://user.eumetsat.int/resources/user-guides/mtg-li-level-2-data-guide#ID-Rejection-of-groups-prior-to-the-computation-of-flashes" TargetMode="External"/><Relationship Id="rId3" Type="http://schemas.openxmlformats.org/officeDocument/2006/relationships/hyperlink" Target="https://user.eumetsat.int/resources/user-guides/mtg-li-level-2-data-guide" TargetMode="External"/><Relationship Id="rId4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hyperlink" Target="https://user.eumetsat.int/resources/user-guides/mtg-irs-level-1-data-guide" TargetMode="External"/><Relationship Id="rId2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hyperlink" Target="https://user.eumetsat.int/resources/user-guides/mtg-test-data" TargetMode="External"/><Relationship Id="rId2" Type="http://schemas.openxmlformats.org/officeDocument/2006/relationships/hyperlink" Target="https://user.eumetsat.int/resources/user-guides/mtg-irs-level-1-data-guide" TargetMode="External"/><Relationship Id="rId3" Type="http://schemas.openxmlformats.org/officeDocument/2006/relationships/slideLayout" Target="../slideLayouts/slideLayout10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hyperlink" Target="https://user.eumetsat.int/resources/user-guides/mtg-irs-level-1-data-guide" TargetMode="External"/><Relationship Id="rId3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" Target="slide35.xml"/><Relationship Id="rId2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hyperlink" Target="https://sentinels.copernicus.eu/missions/sentinel-4" TargetMode="External"/><Relationship Id="rId2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hyperlink" Target="https://data.eumetsat.int/search" TargetMode="External"/><Relationship Id="rId2" Type="http://schemas.openxmlformats.org/officeDocument/2006/relationships/hyperlink" Target="https://user.eumetsat.int/catalogue" TargetMode="External"/><Relationship Id="rId3" Type="http://schemas.openxmlformats.org/officeDocument/2006/relationships/hyperlink" Target="https://archive.eumetsat.int/" TargetMode="External"/><Relationship Id="rId4" Type="http://schemas.openxmlformats.org/officeDocument/2006/relationships/hyperlink" Target="https://www.eumetsat.int/ac-saf" TargetMode="External"/><Relationship Id="rId5" Type="http://schemas.openxmlformats.org/officeDocument/2006/relationships/hyperlink" Target="https://www.eumetsat.int/h-saf" TargetMode="External"/><Relationship Id="rId6" Type="http://schemas.openxmlformats.org/officeDocument/2006/relationships/hyperlink" Target="https://www.eumetsat.int/lsa-saf" TargetMode="External"/><Relationship Id="rId7" Type="http://schemas.openxmlformats.org/officeDocument/2006/relationships/hyperlink" Target="https://www.eumetsat.int/nwc-saf" TargetMode="External"/><Relationship Id="rId8" Type="http://schemas.openxmlformats.org/officeDocument/2006/relationships/hyperlink" Target="https://www.eumetsat.int/nwp-saf" TargetMode="External"/><Relationship Id="rId9" Type="http://schemas.openxmlformats.org/officeDocument/2006/relationships/hyperlink" Target="https://www.eumetsat.int/osi-saf" TargetMode="External"/><Relationship Id="rId10" Type="http://schemas.openxmlformats.org/officeDocument/2006/relationships/hyperlink" Target="https://www.eumetsat.int/rom-saf" TargetMode="External"/><Relationship Id="rId11" Type="http://schemas.openxmlformats.org/officeDocument/2006/relationships/slideLayout" Target="../slideLayouts/slideLayout10.xml"/><Relationship Id="rId1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hyperlink" Target="https://view.eumetsat.int/" TargetMode="External"/><Relationship Id="rId2" Type="http://schemas.openxmlformats.org/officeDocument/2006/relationships/hyperlink" Target="https://user.eumetsat.int/catalogue" TargetMode="External"/><Relationship Id="rId3" Type="http://schemas.openxmlformats.org/officeDocument/2006/relationships/slideLayout" Target="../slideLayouts/slideLayout10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hyperlink" Target="https://datalsasaf.lsasvcs.ipma.pt/PRODUCTS/MTG/" TargetMode="External"/><Relationship Id="rId2" Type="http://schemas.openxmlformats.org/officeDocument/2006/relationships/slideLayout" Target="../slideLayouts/slideLayout10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hyperlink" Target="https://acsaf.org/" TargetMode="External"/><Relationship Id="rId2" Type="http://schemas.openxmlformats.org/officeDocument/2006/relationships/slideLayout" Target="../slideLayouts/slideLayout10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hyperlink" Target="https://user.eumetsat.int/resources/user-guides/mtg-in-operations" TargetMode="External"/><Relationship Id="rId2" Type="http://schemas.openxmlformats.org/officeDocument/2006/relationships/hyperlink" Target="https://user.eumetsat.int/resources/user-guides/mtg-test-data" TargetMode="External"/><Relationship Id="rId3" Type="http://schemas.openxmlformats.org/officeDocument/2006/relationships/slideLayout" Target="../slideLayouts/slideLayout10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hyperlink" Target="mailto:anatsis@noa.gr" TargetMode="External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85800" y="1598760"/>
            <a:ext cx="7771320" cy="110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MTG Satellites, Instruments and Data, a limited overview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ubTitle"/>
          </p:nvPr>
        </p:nvSpPr>
        <p:spPr>
          <a:xfrm>
            <a:off x="1371600" y="2916720"/>
            <a:ext cx="6399720" cy="131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NOA/ReACT</a:t>
            </a:r>
            <a:br>
              <a:rPr sz="2400"/>
            </a:br>
            <a:br>
              <a:rPr sz="2400"/>
            </a:b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Athanasios Natsis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dt" idx="37"/>
          </p:nvPr>
        </p:nvSpPr>
        <p:spPr>
          <a:xfrm>
            <a:off x="457200" y="4771080"/>
            <a:ext cx="213264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2026-02-25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/>
          </p:nvPr>
        </p:nvSpPr>
        <p:spPr>
          <a:xfrm>
            <a:off x="228960" y="263520"/>
            <a:ext cx="8228520" cy="339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99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Definitions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MTG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Meteosat Third Generation system of geostationary satellites operated by EUMETSAT.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EUMETSAT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Europe’s meteorological satellite agency, an intergovernmental organization.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1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goal</a:t>
            </a: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Produce satellite data on weather, climate, and the environment. Provide near-real time data for members, partners, and other data users.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1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fields</a:t>
            </a: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Nowcasting, Numerical Weather Prediction models, Climate records, Other products and services (firefighting, air quality forecasts, air traffic control, search and rescue missions, disaster risk reduction, agricultural productivity, marine and coastal management……)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/>
          </p:nvPr>
        </p:nvSpPr>
        <p:spPr>
          <a:xfrm>
            <a:off x="457560" y="457560"/>
            <a:ext cx="8228520" cy="339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99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Data scope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Picture 1" descr="images/data_domain.png"/>
          <p:cNvPicPr/>
          <p:nvPr/>
        </p:nvPicPr>
        <p:blipFill>
          <a:blip r:embed="rId1"/>
          <a:stretch/>
        </p:blipFill>
        <p:spPr>
          <a:xfrm>
            <a:off x="2438280" y="1194480"/>
            <a:ext cx="4266000" cy="28843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3" name="TextBox 3"/>
          <p:cNvSpPr/>
          <p:nvPr/>
        </p:nvSpPr>
        <p:spPr>
          <a:xfrm>
            <a:off x="457200" y="4079880"/>
            <a:ext cx="8228520" cy="50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NRT 4d weather cube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52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MTG-I Imaging mission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Picture 1" descr="images/mtg-I.png"/>
          <p:cNvPicPr/>
          <p:nvPr/>
        </p:nvPicPr>
        <p:blipFill>
          <a:blip r:embed="rId1"/>
          <a:stretch/>
        </p:blipFill>
        <p:spPr>
          <a:xfrm>
            <a:off x="914400" y="1194480"/>
            <a:ext cx="3123000" cy="28843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6" name="TextBox 3"/>
          <p:cNvSpPr/>
          <p:nvPr/>
        </p:nvSpPr>
        <p:spPr>
          <a:xfrm>
            <a:off x="457200" y="4079880"/>
            <a:ext cx="4037400" cy="50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MTG-I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648320" y="1200960"/>
            <a:ext cx="4037400" cy="339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i="1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FCI</a:t>
            </a: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- Full disc scanning service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/10 minutes, 16 spectral bands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i="1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FCI</a:t>
            </a: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- Rapid scanning service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Europe /2.5 minutes, 16 spectral bands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i="1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- Lightning Imager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Full disc, continuous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Content Placeholder 4"/>
          <p:cNvSpPr/>
          <p:nvPr/>
        </p:nvSpPr>
        <p:spPr>
          <a:xfrm>
            <a:off x="457200" y="4152960"/>
            <a:ext cx="8228880" cy="65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pPr algn="r"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en-US" sz="14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2"/>
              </a:rPr>
              <a:t>https://www.eumetsat.int/meteosat-third-generation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en-US" sz="14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3"/>
              </a:rPr>
              <a:t>https://user.eumetsat.int/resources/user-guides/mtg-in-operations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52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MTG-S Sounding mission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Picture 1" descr="images/mtg-S.png"/>
          <p:cNvPicPr/>
          <p:nvPr/>
        </p:nvPicPr>
        <p:blipFill>
          <a:blip r:embed="rId1"/>
          <a:stretch/>
        </p:blipFill>
        <p:spPr>
          <a:xfrm>
            <a:off x="1562040" y="1194480"/>
            <a:ext cx="1827720" cy="28843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" name="TextBox 3"/>
          <p:cNvSpPr/>
          <p:nvPr/>
        </p:nvSpPr>
        <p:spPr>
          <a:xfrm>
            <a:off x="457200" y="4079880"/>
            <a:ext cx="4037400" cy="50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MTG-S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648320" y="1200960"/>
            <a:ext cx="4037400" cy="339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Infrared Sounder (IRS)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1/4 of Full disk /15 minutes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Ultraviolet Visible Near-infrared (UVN) Sounder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Copernicus Sentinel-4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Smaller disc than FCI, /60min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Content Placeholder 1"/>
          <p:cNvSpPr/>
          <p:nvPr/>
        </p:nvSpPr>
        <p:spPr>
          <a:xfrm>
            <a:off x="685800" y="4118040"/>
            <a:ext cx="822852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pPr algn="r"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en-US" sz="18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2"/>
              </a:rPr>
              <a:t>https://www.eumetsat.int/meteosat-third-generation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en-US" sz="18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3"/>
              </a:rPr>
              <a:t>https://user.eumetsat.int/resources/user-guides/mtg-in-operations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 l="45001" t="41119" r="45001" b="41119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" descr=""/>
          <p:cNvPicPr/>
          <p:nvPr/>
        </p:nvPicPr>
        <p:blipFill>
          <a:blip r:embed="rId2"/>
          <a:stretch/>
        </p:blipFill>
        <p:spPr>
          <a:xfrm>
            <a:off x="2112480" y="114480"/>
            <a:ext cx="4918320" cy="4918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/>
          </p:nvPr>
        </p:nvSpPr>
        <p:spPr>
          <a:xfrm>
            <a:off x="421200" y="391320"/>
            <a:ext cx="3464280" cy="97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999"/>
              </a:spcBef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Flexible Combined Imager FCI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Full Earth disk every 10 minutes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6" name="Content Placeholder 5"/>
          <p:cNvGraphicFramePr/>
          <p:nvPr/>
        </p:nvGraphicFramePr>
        <p:xfrm>
          <a:off x="3956760" y="254880"/>
          <a:ext cx="5076360" cy="4308480"/>
        </p:xfrm>
        <a:graphic>
          <a:graphicData uri="http://schemas.openxmlformats.org/drawingml/2006/table">
            <a:tbl>
              <a:tblPr/>
              <a:tblGrid>
                <a:gridCol w="328680"/>
                <a:gridCol w="1056600"/>
                <a:gridCol w="1291680"/>
                <a:gridCol w="1178280"/>
                <a:gridCol w="1221480"/>
              </a:tblGrid>
              <a:tr h="253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Channel</a:t>
                      </a:r>
                      <a:endParaRPr b="0" lang="en-US" sz="10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λc</a:t>
                      </a:r>
                      <a:endParaRPr b="0" lang="en-US" sz="10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Δλ</a:t>
                      </a:r>
                      <a:endParaRPr b="0" lang="en-US" sz="10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SSD</a:t>
                      </a:r>
                      <a:endParaRPr b="0" lang="en-US" sz="10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25344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VIS 0.4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0.444 µm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0.060 µm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1.0 km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25344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VIS 0.5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0.510 µm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0.040 µm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1.0 km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25344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VIS 0.6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0.640 µm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0.050 µm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1.0 km 0.5 km (HR)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25344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VIS 0.8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0.865 µm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0.050 µm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1.0 km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25344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VIS 0.9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0.914 µm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0.020 µm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1.0 km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25344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NIR 1.3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1.380 µm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0.030 µm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1.0 km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25344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NIR 1.6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1.610 µm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0.050 µm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1.0 km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25344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NIR 2.2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2.250 µm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0.050 µm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1.0 km 0.5 km (HR)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25344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IR 3.8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3.800 µm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0.400 µm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2.0 km 1.0 km (HR)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25344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WV 6.3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6.300 µm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1.000 µm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2.0 km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25344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11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WV 7.3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7.350 µm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0.500 µm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2.0 km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25344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12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IR 8.7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8.700 µm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0.400 µm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2.0 km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25344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13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IR 9.7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9.660 µm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0.300 µm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2.0 km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25344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14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IR 10.5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10.500 µm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0.700 µm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2.0 km 1.0 km (HR)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25344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15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IR 12.3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12.300 µm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0.500 µm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2.0 km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25344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16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IR 13.3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13.300 µm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0.600 µm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2.0 km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sp>
        <p:nvSpPr>
          <p:cNvPr id="87" name="Content Placeholder 6"/>
          <p:cNvSpPr/>
          <p:nvPr/>
        </p:nvSpPr>
        <p:spPr>
          <a:xfrm>
            <a:off x="457200" y="2743200"/>
            <a:ext cx="319932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i="1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λc: Central wavelength [μm]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i="1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Δλ: Spectral width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i="1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SSD: Spatial Sampling Distance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i="1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Channels: VIS (Visible), NIR (Near IR), IR (Infrared), WV (Water Vapour)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en-US" sz="14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1"/>
              </a:rPr>
              <a:t>https://user.eumetsat.int/resources/user-guides/mtg-fci-level-1c-data-guide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/>
          </p:nvPr>
        </p:nvSpPr>
        <p:spPr>
          <a:xfrm>
            <a:off x="228600" y="228600"/>
            <a:ext cx="77716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99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EUMETSAT MTG available products (2026-02-01)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Content Placeholder 7"/>
          <p:cNvSpPr/>
          <p:nvPr/>
        </p:nvSpPr>
        <p:spPr>
          <a:xfrm>
            <a:off x="228960" y="717840"/>
            <a:ext cx="4037400" cy="339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Accumulated precipitation at ground by blended MW+IR and FCI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Active Fire Monitoring (CAP, netCDF)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All Sky Radiance (BUFR, netCDF)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Atmospheric Motion Vectors (BUFR, netCDF)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Clear Sky Reflectance Map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Cloud Mask (GRIB2, netCDF)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Cloud Top Temperature and Height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Cloud Type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FCI Level 1c High Resolution Image Data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FCI Level 1c Normal Resolution Image Data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FCI Level 3 Sea Surface Temperature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Content Placeholder 8"/>
          <p:cNvSpPr/>
          <p:nvPr/>
        </p:nvSpPr>
        <p:spPr>
          <a:xfrm>
            <a:off x="4420080" y="717840"/>
            <a:ext cx="4037400" cy="339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FCI Snow detection (snow mask) by VIS/NIR radiometry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Global Instability Indices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LI Accumulated Flash Area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LI Accumulated Flash Radiance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LI Accumulated Flashes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LI Lightning Events Filtered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LI Lightning Flashes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LI Lightning Groups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Land Surface Temperature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Optimal Cloud Analysis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Outgoing LW radiation at TOA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Precipitation rate at ground by blended FCI IR / LEO MW precipitation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Content Placeholder 9"/>
          <p:cNvSpPr/>
          <p:nvPr/>
        </p:nvSpPr>
        <p:spPr>
          <a:xfrm>
            <a:off x="228600" y="4722840"/>
            <a:ext cx="388548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en-US" sz="14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1"/>
              </a:rPr>
              <a:t>https://data.eumetsat.int/extended?query=mtg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/>
          </p:nvPr>
        </p:nvSpPr>
        <p:spPr>
          <a:xfrm>
            <a:off x="228600" y="228600"/>
            <a:ext cx="8914320" cy="479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99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FCI composites (MTG-I)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Predefined composites of wavelengths…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from satpy import Scene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scn = Scene(filenames = files, reader = 'fci_l1c_nc')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print(scn.available_composite_names())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24h_microphysics, airmass, ash, cimss_cloud_type, cimss_cloud_type_raw, cloud_phase, cloud_phase_distinction, cloud_phase_distinction_raw, cloud_phase_raw, cloud_phase_with_night_ir105, cloud_type, cloud_type_with_night_ir105, cloudtop, colorized_ir_clouds, convection, day_essl_colorized_low_level_moisture, day_essl_low_level_moisture, day_microphysics, day_severe_storms, day_severe_storms_tropical, </a:t>
            </a:r>
            <a:r>
              <a:rPr b="1" lang="en-US" sz="1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dust</a:t>
            </a: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, essl_colorized_low_level_moisture, essl_low_level_moisture, fci_fire_channels_sum, fire_temperature, fire_temperature_38refl, fire_temperature_rad, flames_masked, fog, geo_color, geo_color_background_with_low_clouds, geo_color_high_clouds, geo_color_low_clouds, geo_color_night, green_snow, hrv_clouds, ir108_3d, ir_cloud_day, ir_sandwich, ir_sandwich_with_night_colorized_ir_clouds, </a:t>
            </a:r>
            <a:r>
              <a:rPr b="1" lang="en-US" sz="1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natural_color</a:t>
            </a: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, natural_color_raw, ndvi_hybrid_green, ndvi_hybrid_green_fully_sunzencorrected, ndvi_hybrid_green_raw, night_fog, night_ir105, night_ir_alpha, night_ir_with_background, night_ir_with_background_hires, night_microphysics, night_microphysics_tropical, overshooting_tops, rocket_plume_day, rocket_plume_night, simple_fci_fire_mask, snow, true_color, true_color_flames_with_night_ir105, true_color_fully_sunzencorrected, true_color_raw, true_color_raw_with_corrected_green, true_color_reproduction, true_color_reproduction_corr, true_color_reproduction_uncorr, true_color_with_night_ir, true_color_with_night_ir105, true_color_with_night_ir_hires, volcanic_emissions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4"/>
          <p:cNvSpPr/>
          <p:nvPr/>
        </p:nvSpPr>
        <p:spPr>
          <a:xfrm>
            <a:off x="421560" y="365760"/>
            <a:ext cx="8036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34308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LI Lightning Imager  MTG-I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457200" y="939240"/>
            <a:ext cx="7086600" cy="2718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Events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(LEF - Lightning Events Filtered): The finest scale of data. An event is a single triggered pixel where a sudden increase in energy is detected within a 1 ms frame.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Groups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(LGR - Lightning Groups): Aggregated adjacent events occurring within the same 1 ms acquisition frame. Group locations are calculated as the radiance-weighted centroid of the events within them.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Flashes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(LFL - Lightning Flashes): A collection of groups that are correlated in space (within 16.5 km) and time (within 330 ms)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457200" y="3969720"/>
            <a:ext cx="7709040" cy="53064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https://user.eumetsat.int/resources/user-guides/using-mtg-lightning-imager-li-to-track-convective-storms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/>
          </p:nvPr>
        </p:nvSpPr>
        <p:spPr>
          <a:xfrm>
            <a:off x="228600" y="365400"/>
            <a:ext cx="3007080" cy="352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LI Lightning Imager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MTG-I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Lightning Imager Groups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7" name="Content Placeholder 5"/>
          <p:cNvGraphicFramePr/>
          <p:nvPr/>
        </p:nvGraphicFramePr>
        <p:xfrm>
          <a:off x="3568680" y="203040"/>
          <a:ext cx="5104440" cy="4597560"/>
        </p:xfrm>
        <a:graphic>
          <a:graphicData uri="http://schemas.openxmlformats.org/drawingml/2006/table">
            <a:tbl>
              <a:tblPr/>
              <a:tblGrid>
                <a:gridCol w="1985040"/>
                <a:gridCol w="3119760"/>
              </a:tblGrid>
              <a:tr h="32220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Variable</a:t>
                      </a:r>
                      <a:endParaRPr b="0" lang="en-US" sz="13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Description</a:t>
                      </a:r>
                      <a:endParaRPr b="0" lang="en-US" sz="13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32220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group_time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UTC time of the group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77040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latitude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Avg latitude of the events in the group weighted by the event radiance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77040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longitude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Avg longitude of the events in the group weighted by the event radiance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54648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radiance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Total radiance of the group (</a:t>
                      </a:r>
                      <a:r>
                        <a:rPr b="0" lang="en-US" sz="1350" strike="noStrike" u="sng">
                          <a:solidFill>
                            <a:srgbClr val="0000ff"/>
                          </a:solidFill>
                          <a:effectLst/>
                          <a:uFillTx/>
                          <a:latin typeface="Calibri"/>
                          <a:hlinkClick r:id="rId1"/>
                        </a:rPr>
                        <a:t>Optical Characteristics of OTD Flashes and the Implications…</a:t>
                      </a:r>
                      <a:r>
                        <a:rPr b="0" lang="en-US" sz="1350" strike="noStrike" u="sng">
                          <a:solidFill>
                            <a:srgbClr val="0000ff"/>
                          </a:solidFill>
                          <a:effectLst/>
                          <a:uFillTx/>
                          <a:latin typeface="Calibri"/>
                          <a:hlinkClick r:id="rId2"/>
                        </a:rPr>
                        <a:t>)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2220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number_of_events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Number of events in the group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77040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flash_id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ID of the flash that allows one to relate the groups in the LI-2-LGR-x-FD-x to the LI-2-LFL-x-FD-x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77328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group_filter_qa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Quality of the group computed at the group-rejection step (</a:t>
                      </a:r>
                      <a:r>
                        <a:rPr b="0" lang="en-US" sz="1350" strike="noStrike" u="sng">
                          <a:solidFill>
                            <a:srgbClr val="0000ff"/>
                          </a:solidFill>
                          <a:effectLst/>
                          <a:uFillTx/>
                          <a:latin typeface="Calibri"/>
                          <a:hlinkClick r:id="rId3"/>
                        </a:rPr>
                        <a:t>Rejection of groups prior to the comp…</a:t>
                      </a: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)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  <p:sp>
        <p:nvSpPr>
          <p:cNvPr id="98" name="Content Placeholder 10"/>
          <p:cNvSpPr/>
          <p:nvPr/>
        </p:nvSpPr>
        <p:spPr>
          <a:xfrm>
            <a:off x="228600" y="3486960"/>
            <a:ext cx="3199680" cy="22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Key variables in LI-2-LGR-x-FD-x.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en-US" sz="18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4"/>
              </a:rPr>
              <a:t>https://user.eumetsat.int/resources/user-guides/mtg-li-level-2-data-guide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/>
          </p:nvPr>
        </p:nvSpPr>
        <p:spPr>
          <a:xfrm>
            <a:off x="228600" y="365400"/>
            <a:ext cx="3007080" cy="169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LI Lightning Imager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MTG-I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Lightning Imager Flashes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0" name="Content Placeholder 5"/>
          <p:cNvGraphicFramePr/>
          <p:nvPr/>
        </p:nvGraphicFramePr>
        <p:xfrm>
          <a:off x="3200400" y="203040"/>
          <a:ext cx="5714280" cy="4826160"/>
        </p:xfrm>
        <a:graphic>
          <a:graphicData uri="http://schemas.openxmlformats.org/drawingml/2006/table">
            <a:tbl>
              <a:tblPr/>
              <a:tblGrid>
                <a:gridCol w="2484000"/>
                <a:gridCol w="3230640"/>
              </a:tblGrid>
              <a:tr h="33408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Variable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Description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33408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flash_time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UTC time of the first group in the flash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56376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flash_duration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Duration of the flash, ie, time difference between the first a the last group of the flash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56376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latitude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Average latitude of the events in the flash weighted by the event radiance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56376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longitude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Average longitude of the events in the flash weighted by the event radiance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56376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radiance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Total radiance of the flash (</a:t>
                      </a:r>
                      <a:r>
                        <a:rPr b="0" lang="en-US" sz="1300" strike="noStrike" u="sng">
                          <a:solidFill>
                            <a:srgbClr val="0000ff"/>
                          </a:solidFill>
                          <a:effectLst/>
                          <a:uFillTx/>
                          <a:latin typeface="Calibri"/>
                          <a:hlinkClick r:id="rId1"/>
                        </a:rPr>
                        <a:t>Optical Characteristics of OTD Flashes and the Implications…</a:t>
                      </a:r>
                      <a:r>
                        <a:rPr b="0" lang="en-US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)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3408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number_of_events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Number of events in the flash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3408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number_of_groups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Number of groups in the flash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3408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flash_footprint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Size of the flash footprint in number of pixels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3408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flash_id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ID of the flash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56664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flash_filter_confidence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Quality of the filter computed at the group-rejection step (</a:t>
                      </a:r>
                      <a:r>
                        <a:rPr b="0" lang="en-US" sz="1300" strike="noStrike" u="sng">
                          <a:solidFill>
                            <a:srgbClr val="0000ff"/>
                          </a:solidFill>
                          <a:effectLst/>
                          <a:uFillTx/>
                          <a:latin typeface="Calibri"/>
                          <a:hlinkClick r:id="rId2"/>
                        </a:rPr>
                        <a:t>Rejection of flashes</a:t>
                      </a:r>
                      <a:r>
                        <a:rPr b="0" lang="en-US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)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sp>
        <p:nvSpPr>
          <p:cNvPr id="101" name="Content Placeholder 11"/>
          <p:cNvSpPr/>
          <p:nvPr/>
        </p:nvSpPr>
        <p:spPr>
          <a:xfrm>
            <a:off x="228600" y="3886200"/>
            <a:ext cx="2971080" cy="213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Key variables in LI-2-LFL-x-FD-x.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en-US" sz="13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3"/>
              </a:rPr>
              <a:t>https://user.eumetsat.int/resources/user-guides/mtg-li-level-2-data-guide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/>
          </p:nvPr>
        </p:nvSpPr>
        <p:spPr>
          <a:xfrm>
            <a:off x="457200" y="489240"/>
            <a:ext cx="8228520" cy="339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99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InfraRed Sounder IRS (MTG-S)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Hyperspectral infrared sounder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Goal: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Derive the evolution of vertically resolved water vapour structures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Extract 3D wind fields with a vertical resolution ~ 2 km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Track the 3D structures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atmospheric water vapour and temperature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carbon monoxide and pollution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atmospheric dynamic variables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Spatial: </a:t>
            </a: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4km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at nadir (1.025° x 1.025°)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Temporal: 15 – 30 min local zones, </a:t>
            </a: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60 min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full disk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/>
          </p:nvPr>
        </p:nvSpPr>
        <p:spPr>
          <a:xfrm>
            <a:off x="685800" y="457200"/>
            <a:ext cx="3692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InfraRed Sounder IRS (MTG-S) Instrument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4" name="Content Placeholder 5"/>
          <p:cNvGraphicFramePr/>
          <p:nvPr/>
        </p:nvGraphicFramePr>
        <p:xfrm>
          <a:off x="685800" y="1371600"/>
          <a:ext cx="8000640" cy="2141640"/>
        </p:xfrm>
        <a:graphic>
          <a:graphicData uri="http://schemas.openxmlformats.org/drawingml/2006/table">
            <a:tbl>
              <a:tblPr/>
              <a:tblGrid>
                <a:gridCol w="1833840"/>
                <a:gridCol w="2334960"/>
                <a:gridCol w="1236960"/>
                <a:gridCol w="2595240"/>
              </a:tblGrid>
              <a:tr h="71388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Band</a:t>
                      </a:r>
                      <a:endParaRPr b="0" lang="en-US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Wavenumber Range</a:t>
                      </a:r>
                      <a:endParaRPr b="0" lang="en-US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Channels</a:t>
                      </a:r>
                      <a:endParaRPr b="0" lang="en-US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Main Targets</a:t>
                      </a:r>
                      <a:endParaRPr b="0" lang="en-US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71388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Long Wave IR (LWIR)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679.5 – 1210.0 cm</a:t>
                      </a:r>
                      <a:r>
                        <a:rPr b="0" lang="en-US" sz="2000" strike="noStrike" u="none" baseline="3000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-1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887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H2O, CO2, O3, Surface, Clouds, Aerosols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71388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Mid Wave IR (MWIR)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1600.0 – 2250.4 cm</a:t>
                      </a:r>
                      <a:r>
                        <a:rPr b="0" lang="en-US" sz="2000" strike="noStrike" u="none" baseline="3000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-1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1076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H2O, CO, N20, NO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sp>
        <p:nvSpPr>
          <p:cNvPr id="105" name="Content Placeholder 12"/>
          <p:cNvSpPr/>
          <p:nvPr/>
        </p:nvSpPr>
        <p:spPr>
          <a:xfrm>
            <a:off x="685800" y="3886200"/>
            <a:ext cx="7543080" cy="15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Vertical resolution TBD … (~ 2km)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en-US" sz="16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1"/>
              </a:rPr>
              <a:t>https://user.eumetsat.int/resources/user-guides/mtg-irs-level-1-data-guide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/>
          </p:nvPr>
        </p:nvSpPr>
        <p:spPr>
          <a:xfrm>
            <a:off x="457560" y="489240"/>
            <a:ext cx="8228520" cy="339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99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InfraRed Sounder IRS (MTG-S)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L2 data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Temperature, humidity and ozone profiles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Earth Surface parameters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Instability indices and total vertical column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Cloud products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Contextual parameters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1"/>
              </a:rPr>
              <a:t>Test/Simulated data available here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2"/>
              </a:rPr>
              <a:t>https://user.eumetsat.int/resources/user-guides/mtg-irs-level-1-data-guide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/>
          </p:nvPr>
        </p:nvSpPr>
        <p:spPr>
          <a:xfrm>
            <a:off x="457200" y="228600"/>
            <a:ext cx="30070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999"/>
              </a:spcBef>
              <a:buNone/>
              <a:tabLst>
                <a:tab algn="l" pos="0"/>
              </a:tabLst>
            </a:pPr>
            <a:r>
              <a:rPr b="1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Spectral coverage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Picture 1" descr="images/IASI_CrIS_FCI_IRS.png"/>
          <p:cNvPicPr/>
          <p:nvPr/>
        </p:nvPicPr>
        <p:blipFill>
          <a:blip r:embed="rId1"/>
          <a:stretch/>
        </p:blipFill>
        <p:spPr>
          <a:xfrm>
            <a:off x="3353040" y="454320"/>
            <a:ext cx="5104440" cy="38883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9" name="Content Placeholder 13"/>
          <p:cNvSpPr/>
          <p:nvPr/>
        </p:nvSpPr>
        <p:spPr>
          <a:xfrm>
            <a:off x="457560" y="2514600"/>
            <a:ext cx="2742120" cy="25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Infrared Atmospheric Sounding Interferometer (LEO)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Cross-track Infrared Sounder (LEO)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MTG InfraRed Sounder (GEO)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MTG Flexible Combined Imager (GEO)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en-US" sz="14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2"/>
              </a:rPr>
              <a:t>user.eumetsat.int/resources/user-guides/mtg-irs-level-1-data-guide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/>
          </p:nvPr>
        </p:nvSpPr>
        <p:spPr>
          <a:xfrm>
            <a:off x="457200" y="22860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999"/>
              </a:spcBef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Sentinel-4/Ultraviolet, Visible and Near-infrared Spectrometer (S4 / UVN) (MTG-S)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objective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Observe the diurnal cycle of the tropospheric composition, trace gases, aerosol and cloud properties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O3 (Ozone), NO2 (Nitrogen dioxide), SO2 (Sulfur dioxide), HCHO (Formaldehyde), CHOCHO (glyoxal)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1" name="Content Placeholder 5"/>
          <p:cNvGraphicFramePr/>
          <p:nvPr/>
        </p:nvGraphicFramePr>
        <p:xfrm>
          <a:off x="457200" y="1600200"/>
          <a:ext cx="8457480" cy="2613600"/>
        </p:xfrm>
        <a:graphic>
          <a:graphicData uri="http://schemas.openxmlformats.org/drawingml/2006/table">
            <a:tbl>
              <a:tblPr/>
              <a:tblGrid>
                <a:gridCol w="2484720"/>
                <a:gridCol w="5973120"/>
              </a:tblGrid>
              <a:tr h="30060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Instrument type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Passive imaging spectrometer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0060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Spectrometric bands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, Ultraviolet (305-400 nm), Visible (400-500 nm) and Near Infrared (750-775 nm) </a:t>
                      </a:r>
                      <a:r>
                        <a:rPr b="0" lang="en-US" sz="1350" strike="noStrike" u="sng" baseline="30000">
                          <a:solidFill>
                            <a:srgbClr val="0000ff"/>
                          </a:solidFill>
                          <a:effectLst/>
                          <a:uFillTx/>
                          <a:latin typeface="Calibri"/>
                          <a:hlinkClick r:id="rId1" action="ppaction://hlinksldjump"/>
                        </a:rPr>
                        <a:t>1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0060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Spectrometric channels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, (UV-VIS channel; NIR channel)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0060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Field Of View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E-W: 30°W-46.5°E @ 40°N, N-S: 30°N-65°N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0060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Spatial resolution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 x 8 km</a:t>
                      </a:r>
                      <a:r>
                        <a:rPr b="0" lang="en-US" sz="1350" strike="noStrike" u="none" baseline="3000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0060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Spectral resolution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0.5 nm for the UV-VIS channel; 0.12 nm for the NIR channel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50940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Radiometric accuracy (absolute)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3% (2% goal) of the measured sun irradiance, earth radiance and spectral reflectance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0060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Revisit time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~ 60 min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/>
          </p:nvPr>
        </p:nvSpPr>
        <p:spPr>
          <a:xfrm>
            <a:off x="421200" y="391320"/>
            <a:ext cx="8036280" cy="97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999"/>
              </a:spcBef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Sentinel-4/Ultraviolet, Visible and Near-infrared Spectrometer (S4 / UVN) (MTG-S)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L1 data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3" name="Content Placeholder 5"/>
          <p:cNvGraphicFramePr/>
          <p:nvPr/>
        </p:nvGraphicFramePr>
        <p:xfrm>
          <a:off x="454680" y="1391760"/>
          <a:ext cx="8229240" cy="2877480"/>
        </p:xfrm>
        <a:graphic>
          <a:graphicData uri="http://schemas.openxmlformats.org/drawingml/2006/table">
            <a:tbl>
              <a:tblPr/>
              <a:tblGrid>
                <a:gridCol w="1628640"/>
                <a:gridCol w="5119560"/>
                <a:gridCol w="1481400"/>
              </a:tblGrid>
              <a:tr h="-32472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Level-1B product</a:t>
                      </a:r>
                      <a:endParaRPr b="0" lang="en-US" sz="13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Parameter(s)</a:t>
                      </a:r>
                      <a:endParaRPr b="0" lang="en-US" sz="13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Distributed</a:t>
                      </a:r>
                      <a:endParaRPr b="0" lang="en-US" sz="13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73260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Earth Radiance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Spectrally and radiometrically calibrated and geo-located Earth radiance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To all users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0060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Solar Irradiance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Spectrally and radiometrically calibrated Solar irradiance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To all users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46440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DPPF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Data Processing Parameters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To Expert Users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0672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Calibration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Calibration data.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To Expert Users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0672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Star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Star calibration data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To Expert Users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6584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Diagnostic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Instrument diagnostic data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To Expert Users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4" name="Content Placeholder 5"/>
          <p:cNvGraphicFramePr/>
          <p:nvPr/>
        </p:nvGraphicFramePr>
        <p:xfrm>
          <a:off x="1025640" y="1177200"/>
          <a:ext cx="7092720" cy="2705400"/>
        </p:xfrm>
        <a:graphic>
          <a:graphicData uri="http://schemas.openxmlformats.org/drawingml/2006/table">
            <a:tbl>
              <a:tblPr/>
              <a:tblGrid>
                <a:gridCol w="1757520"/>
                <a:gridCol w="5335560"/>
              </a:tblGrid>
              <a:tr h="30060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Level-2 products</a:t>
                      </a:r>
                      <a:endParaRPr b="0" lang="en-US" sz="13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Parameter(s)</a:t>
                      </a:r>
                      <a:endParaRPr b="0" lang="en-US" sz="13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30060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O3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Ozone (O3) total column, tropospheric sub-column,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0060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NO2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Nitrogen dioxide (NO2) total column, tropospheric sub-column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0060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SO2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Sulfur dioxide (SO2) total column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0060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HCHO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Formaldehyde (HCHO) total column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0060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CHOCHO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Glyoxal (CHOCHO) total column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0060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Cloud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Cloud optical thickness, cloud fraction, cloud altitude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0060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Aerosol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Aerosol column optical thickness, type, layer height, absorbing index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0060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Surface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Surface and aerosol characteristics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sp>
        <p:nvSpPr>
          <p:cNvPr id="115" name="Text Placeholder 1"/>
          <p:cNvSpPr/>
          <p:nvPr/>
        </p:nvSpPr>
        <p:spPr>
          <a:xfrm>
            <a:off x="421560" y="391680"/>
            <a:ext cx="8036280" cy="97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343080">
              <a:lnSpc>
                <a:spcPct val="100000"/>
              </a:lnSpc>
              <a:spcBef>
                <a:spcPts val="2999"/>
              </a:spcBef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Sentinel-4/Ultraviolet, Visible and Near-infrared Spectrometer (S4 / UVN) (MTG-S)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spcBef>
                <a:spcPts val="210"/>
              </a:spcBef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L2 data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Content Placeholder 14"/>
          <p:cNvSpPr/>
          <p:nvPr/>
        </p:nvSpPr>
        <p:spPr>
          <a:xfrm>
            <a:off x="2400480" y="4172760"/>
            <a:ext cx="43426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en-US" sz="15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1"/>
              </a:rPr>
              <a:t>https://sentinels.copernicus.eu/missions/sentinel-4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/>
          </p:nvPr>
        </p:nvSpPr>
        <p:spPr>
          <a:xfrm>
            <a:off x="228960" y="260640"/>
            <a:ext cx="8228520" cy="339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999"/>
              </a:spcBef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Main data resources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1"/>
              </a:rPr>
              <a:t>EUMETSAT data store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/ </a:t>
            </a:r>
            <a:r>
              <a:rPr b="0" lang="en-US" sz="20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2"/>
              </a:rPr>
              <a:t>EUMETSAT data catalogue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3"/>
              </a:rPr>
              <a:t>EUMETSAT ‘data archive’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Satellite Application Facilities SAF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16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4"/>
              </a:rPr>
              <a:t>AC SAF, Atmospheric Composition Monitoring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, ozone, trace gases, aerosols and ultraviolet data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16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5"/>
              </a:rPr>
              <a:t>H SAF, Operational Hydrology and Water Management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, data for operational hydrological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16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6"/>
              </a:rPr>
              <a:t>LSA SAF, Land Surface Analysis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, land, land-atmosphere interactions and biosphere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16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7"/>
              </a:rPr>
              <a:t>NWC SAF, Nowcasting and Very Short Range Forecasting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, forecast for the next few hours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16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8"/>
              </a:rPr>
              <a:t>NWP SAF, Numerical Weather Prediction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, interface between satellite data and European activities in NWP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16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9"/>
              </a:rPr>
              <a:t>OSI SAF, Ocean and Sea Ice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, ocean-atmosphere interface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16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10"/>
              </a:rPr>
              <a:t>ROM SAF, Radio Occultation Meteorology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, high-quality GNSS Radio Occultation (RO) data for NWP and climate application areas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/>
          </p:nvPr>
        </p:nvSpPr>
        <p:spPr>
          <a:xfrm>
            <a:off x="457200" y="1200960"/>
            <a:ext cx="8228520" cy="339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99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Main reference resources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1"/>
              </a:rPr>
              <a:t>EUMETView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, interactive map and product explorer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2"/>
              </a:rPr>
              <a:t>EUMETSAT User Portal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, guides and products references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Training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Software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Guides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……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/>
          </p:nvPr>
        </p:nvSpPr>
        <p:spPr>
          <a:xfrm>
            <a:off x="457200" y="1200960"/>
            <a:ext cx="8228520" cy="339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99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Land Surface Analysis LSA SAF, available products: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Land Surface Albedo (MTDAL)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Fire Radiative Power (MTFRP)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Land Surface Temperature (MTLST)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15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1"/>
              </a:rPr>
              <a:t>https://datalsasaf.lsasvcs.ipma.pt/PRODUCTS/MTG/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228600" y="228600"/>
            <a:ext cx="2056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SAF example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/>
          </p:nvPr>
        </p:nvSpPr>
        <p:spPr>
          <a:xfrm>
            <a:off x="228960" y="946440"/>
            <a:ext cx="8685720" cy="3853440"/>
          </a:xfrm>
          <a:prstGeom prst="rect">
            <a:avLst/>
          </a:prstGeom>
          <a:noFill/>
          <a:ln w="0">
            <a:noFill/>
          </a:ln>
        </p:spPr>
        <p:txBody>
          <a:bodyPr numCol="3" spcCol="0"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999"/>
              </a:spcBef>
              <a:buNone/>
              <a:tabLst>
                <a:tab algn="l" pos="0"/>
              </a:tabLst>
            </a:pPr>
            <a:r>
              <a:rPr b="1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NRT products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Total ozone column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Total and tropospheric NO2 columns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Total SO2 column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Total HCHO column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High-resolution ozone profile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Absorbing aerosol height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Absorbing aerosol index from PMDs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Global 1-day UV index forecast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Global tropospheric ozone column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IASI CO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IASI SO2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IASI HNO3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IASI total O3 and O3 profiles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Offline products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Total ozone column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Total and tropospheric NO2 columns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Total SO2 column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Total BrO column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Total HCHO column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Total H2O column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High-resolution ozone profile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Absorbing aerosol height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Absorbing aerosol index from PMDs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Surface UV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Tropical tropospheric ozone column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Global tropospheric ozone column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GOME-2 level 3 daily trace gas columns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GOME-2 level 3 monthly trace gas columns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Data records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Total ozone column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Total and tropospheric NO2 columns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Total SO2 column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Total BrO column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Total HCHO column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Total H2O column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OCIO column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Total CHOCHO column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NO2 and H2O climate data records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Tropospheric BrO column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High-resolution ozone profile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Absorbing aerosol height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Absorbing aerosol index from PMDs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Lambertian-equivalent reflectivity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Surface UV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IASI L2 O3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IASI L2 CO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IASI L2 SO2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Demonstrational products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Daily IASI NH3 product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Daily IASI dust product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European UV product/data record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14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1"/>
              </a:rPr>
              <a:t>acsaf.org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228960" y="228600"/>
            <a:ext cx="2056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SAF example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1600200" y="457200"/>
            <a:ext cx="7085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r" defTabSz="343080">
              <a:lnSpc>
                <a:spcPct val="100000"/>
              </a:lnSpc>
              <a:spcBef>
                <a:spcPts val="2999"/>
              </a:spcBef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Atmospheric Composition Monitoring AC SAF, available products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2719440" y="1136880"/>
            <a:ext cx="22852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52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Other Links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457200" y="1200960"/>
            <a:ext cx="8228520" cy="339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1"/>
              </a:rPr>
              <a:t>MTG in operations</a:t>
            </a:r>
            <a:br>
              <a:rPr sz="2400"/>
            </a:b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Current status and operational information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2"/>
              </a:rPr>
              <a:t>MTG test data</a:t>
            </a:r>
            <a:br>
              <a:rPr sz="2400"/>
            </a:b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If you want to test possible applications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/>
          </p:nvPr>
        </p:nvSpPr>
        <p:spPr>
          <a:xfrm>
            <a:off x="457560" y="489240"/>
            <a:ext cx="8228520" cy="339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>
            <a:noAutofit/>
          </a:bodyPr>
          <a:p>
            <a:pPr indent="0" algn="ctr" defTabSz="343080">
              <a:lnSpc>
                <a:spcPct val="100000"/>
              </a:lnSpc>
              <a:spcBef>
                <a:spcPts val="2999"/>
              </a:spcBef>
              <a:buNone/>
              <a:tabLst>
                <a:tab algn="l" pos="0"/>
              </a:tabLst>
            </a:pPr>
            <a:r>
              <a:rPr b="1" i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This was an overview of the MTG satellites and data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343080">
              <a:lnSpc>
                <a:spcPct val="100000"/>
              </a:lnSpc>
              <a:spcBef>
                <a:spcPts val="29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ευχαριστώ! Thanks!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contact: </a:t>
            </a:r>
            <a:r>
              <a:rPr b="1" lang="en-US" sz="24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1"/>
              </a:rPr>
              <a:t>anatsis@noa.gr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presentation: </a:t>
            </a: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github.com/thanasisn/presentations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" descr=""/>
          <p:cNvPicPr/>
          <p:nvPr/>
        </p:nvPicPr>
        <p:blipFill>
          <a:blip r:embed="rId2"/>
          <a:stretch/>
        </p:blipFill>
        <p:spPr>
          <a:xfrm>
            <a:off x="3735000" y="3355200"/>
            <a:ext cx="1673280" cy="1673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2026-02-24T08:35:37Z</dcterms:created>
  <dc:creator>Athanasios Natsis</dc:creator>
  <dc:description/>
  <dc:language>en-US</dc:language>
  <cp:lastModifiedBy/>
  <dcterms:modified xsi:type="dcterms:W3CDTF">2026-02-25T10:18:50Z</dcterms:modified>
  <cp:revision>38</cp:revision>
  <dc:subject/>
  <dc:title>MTG Satellites, Instruments and Data, a limited overview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2026-02-25</vt:lpwstr>
  </property>
  <property fmtid="{D5CDD505-2E9C-101B-9397-08002B2CF9AE}" pid="3" name="output">
    <vt:lpwstr/>
  </property>
  <property fmtid="{D5CDD505-2E9C-101B-9397-08002B2CF9AE}" pid="4" name="subtitle">
    <vt:lpwstr>NOA/ReACT</vt:lpwstr>
  </property>
</Properties>
</file>