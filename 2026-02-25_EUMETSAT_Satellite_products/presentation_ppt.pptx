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notesMaster" Target="notesMasters/notesMaster1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spatial on the Earth surface is 4km at nadir, increasing up to 10km, and above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160 x 160 interferograms and four broad-band high-resolution images for each spectral band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No concurrent ‘full disc scan’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160 x 160 x (877;1076)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SAFs in general have data and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eumetsat.int/meteosat-third-generation" TargetMode="External" /><Relationship Id="rId3" Type="http://schemas.openxmlformats.org/officeDocument/2006/relationships/hyperlink" Target="https://user.eumetsat.int/resources/user-guides/mtg-in-operation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eumetsat.int/meteosat-third-generation" TargetMode="External" /><Relationship Id="rId3" Type="http://schemas.openxmlformats.org/officeDocument/2006/relationships/hyperlink" Target="https://user.eumetsat.int/resources/user-guides/mtg-in-operations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4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ser.eumetsat.int/resources/user-guides/mtg-fci-level-1c-data-guide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.eumetsat.int/extended?query=mtg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doi.org/10.1175/2010JTECHA1405.1" TargetMode="External" /><Relationship Id="rId3" Type="http://schemas.openxmlformats.org/officeDocument/2006/relationships/hyperlink" Target="https://user.eumetsat.int/resources/user-guides/mtg-li-level-2-data-guide#" TargetMode="External" /><Relationship Id="rId4" Type="http://schemas.openxmlformats.org/officeDocument/2006/relationships/hyperlink" Target="https://user.eumetsat.int/resources/user-guides/mtg-li-level-2-data-guide#ID-Rejection-of-groups-prior-to-the-computation-of-flashes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ser.eumetsat.int/resources/user-guides/mtg-li-level-2-data-guide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doi.org/10.1175/2010JTECHA1405.1" TargetMode="External" /><Relationship Id="rId3" Type="http://schemas.openxmlformats.org/officeDocument/2006/relationships/hyperlink" Target="https://user.eumetsat.int/resources/user-guides/mtg-li-level-2-data-guide#ID-Rejection-of-groups-prior-to-the-computation-of-flashes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ser.eumetsat.int/resources/user-guides/mtg-li-level-2-data-guide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ser.eumetsat.int/resources/user-guides/mtg-irs-level-1-data-guide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ser.eumetsat.int/resources/user-guides/mtg-test-data" TargetMode="External" /><Relationship Id="rId3" Type="http://schemas.openxmlformats.org/officeDocument/2006/relationships/hyperlink" Target="https://user.eumetsat.int/resources/user-guides/mtg-irs-level-1-data-guide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ser.eumetsat.int/resources/user-guides/mtg-irs-level-1-data-guide" TargetMode="Externa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slide" Target="slide3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entinels.copernicus.eu/missions/sentinel-4" TargetMode="Externa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data.eumetsat.int/search" TargetMode="External" /><Relationship Id="rId4" Type="http://schemas.openxmlformats.org/officeDocument/2006/relationships/hyperlink" Target="https://user.eumetsat.int/catalogue" TargetMode="External" /><Relationship Id="rId5" Type="http://schemas.openxmlformats.org/officeDocument/2006/relationships/hyperlink" Target="https://archive.eumetsat.int/" TargetMode="External" /><Relationship Id="rId6" Type="http://schemas.openxmlformats.org/officeDocument/2006/relationships/hyperlink" Target="https://www.eumetsat.int/ac-saf" TargetMode="External" /><Relationship Id="rId7" Type="http://schemas.openxmlformats.org/officeDocument/2006/relationships/hyperlink" Target="https://www.eumetsat.int/h-saf" TargetMode="External" /><Relationship Id="rId8" Type="http://schemas.openxmlformats.org/officeDocument/2006/relationships/hyperlink" Target="https://www.eumetsat.int/lsa-saf" TargetMode="External" /><Relationship Id="rId9" Type="http://schemas.openxmlformats.org/officeDocument/2006/relationships/hyperlink" Target="https://www.eumetsat.int/nwc-saf" TargetMode="External" /><Relationship Id="rId10" Type="http://schemas.openxmlformats.org/officeDocument/2006/relationships/hyperlink" Target="https://www.eumetsat.int/nwp-saf" TargetMode="External" /><Relationship Id="rId11" Type="http://schemas.openxmlformats.org/officeDocument/2006/relationships/hyperlink" Target="https://www.eumetsat.int/osi-saf" TargetMode="External" /><Relationship Id="rId12" Type="http://schemas.openxmlformats.org/officeDocument/2006/relationships/hyperlink" Target="https://www.eumetsat.int/rom-saf" TargetMode="Externa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iew.eumetsat.int/" TargetMode="External" /><Relationship Id="rId3" Type="http://schemas.openxmlformats.org/officeDocument/2006/relationships/hyperlink" Target="https://user.eumetsat.int/catalogue" TargetMode="Externa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lsasaf.lsasvcs.ipma.pt/PRODUCTS/MTG/" TargetMode="Externa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csaf.org/" TargetMode="Externa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user.eumetsat.int/resources/user-guides/mtg-in-operations" TargetMode="External" /><Relationship Id="rId3" Type="http://schemas.openxmlformats.org/officeDocument/2006/relationships/hyperlink" Target="https://user.eumetsat.int/resources/user-guides/mtg-test-data" TargetMode="Externa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anatsis@noa.gr" TargetMode="Externa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MTG Satellites, Instruments and Data, a limited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NOA/ReACT</a:t>
            </a:r>
            <a:br/>
            <a:br/>
            <a:r>
              <a:rPr/>
              <a:t>Athanasios Natsis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Definitions</a:t>
            </a:r>
          </a:p>
          <a:p>
            <a:pPr lvl="0"/>
            <a:r>
              <a:rPr b="1"/>
              <a:t>MTG</a:t>
            </a:r>
            <a:r>
              <a:rPr/>
              <a:t>: Meteosat Third Generation system of geostationary satellites operated by EUMETSAT.</a:t>
            </a:r>
          </a:p>
          <a:p>
            <a:pPr lvl="0"/>
            <a:r>
              <a:rPr b="1"/>
              <a:t>EUMETSAT</a:t>
            </a:r>
            <a:r>
              <a:rPr/>
              <a:t>: Europe’s meteorological satellite agency, an intergovernmental organization.</a:t>
            </a:r>
          </a:p>
          <a:p>
            <a:pPr lvl="1"/>
            <a:r>
              <a:rPr b="1"/>
              <a:t>goal</a:t>
            </a:r>
            <a:r>
              <a:rPr/>
              <a:t>: Produce satellite data on weather, climate, and the environment. Provide near-real time data for members, partners, and other data users.</a:t>
            </a:r>
          </a:p>
          <a:p>
            <a:pPr lvl="1"/>
            <a:r>
              <a:rPr b="1"/>
              <a:t>fields</a:t>
            </a:r>
            <a:r>
              <a:rPr/>
              <a:t>: Nowcasting, Numerical Weather Prediction models, Climate records, Other products and services (firefighting, air quality forecasts, air traffic control, search and rescue missions, disaster risk reduction, agricultural productivity, marine and coastal management……)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scope</a:t>
            </a:r>
          </a:p>
        </p:txBody>
      </p:sp>
      <p:pic>
        <p:nvPicPr>
          <p:cNvPr descr="images/data_doma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6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NRT 4d weather cube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MTG-I Imaging mission</a:t>
            </a:r>
          </a:p>
        </p:txBody>
      </p:sp>
      <p:pic>
        <p:nvPicPr>
          <p:cNvPr descr="images/mtg-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4400" y="1193800"/>
            <a:ext cx="312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MTG-I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i="1"/>
              <a:t>FCI</a:t>
            </a:r>
            <a:r>
              <a:rPr/>
              <a:t> - Full disc scanning service</a:t>
            </a:r>
          </a:p>
          <a:p>
            <a:pPr lvl="1"/>
            <a:r>
              <a:rPr/>
              <a:t>/10 minutes, 16 spectral bands</a:t>
            </a:r>
          </a:p>
          <a:p>
            <a:pPr lvl="0"/>
            <a:r>
              <a:rPr i="1"/>
              <a:t>FCI</a:t>
            </a:r>
            <a:r>
              <a:rPr/>
              <a:t> - Rapid scanning service</a:t>
            </a:r>
          </a:p>
          <a:p>
            <a:pPr lvl="1"/>
            <a:r>
              <a:rPr/>
              <a:t>Europe /2.5 minutes, 16 spectral bands</a:t>
            </a:r>
          </a:p>
          <a:p>
            <a:pPr lvl="0"/>
            <a:r>
              <a:rPr i="1"/>
              <a:t>LI</a:t>
            </a:r>
            <a:r>
              <a:rPr/>
              <a:t> - Lightning Imager</a:t>
            </a:r>
          </a:p>
          <a:p>
            <a:pPr lvl="1"/>
            <a:r>
              <a:rPr/>
              <a:t>Full disc, continuous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https://www.eumetsat.int/meteosat-third-generation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https://user.eumetsat.int/resources/user-guides/mtg-in-operations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MTG-S Sounding mission</a:t>
            </a:r>
          </a:p>
        </p:txBody>
      </p:sp>
      <p:pic>
        <p:nvPicPr>
          <p:cNvPr descr="images/mtg-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1828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MTG-S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Infrared Sounder (IRS)</a:t>
            </a:r>
          </a:p>
          <a:p>
            <a:pPr lvl="1"/>
            <a:r>
              <a:rPr/>
              <a:t>1/4 of Full disk /15 minutes</a:t>
            </a:r>
          </a:p>
          <a:p>
            <a:pPr lvl="0"/>
            <a:r>
              <a:rPr/>
              <a:t>Ultraviolet Visible Near-infrared (UVN) Sounder</a:t>
            </a:r>
          </a:p>
          <a:p>
            <a:pPr lvl="1"/>
            <a:r>
              <a:rPr/>
              <a:t>Copernicus Sentinel-4</a:t>
            </a:r>
          </a:p>
          <a:p>
            <a:pPr lvl="1"/>
            <a:r>
              <a:rPr/>
              <a:t>Smaller disc than FCI, /60min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https://www.eumetsat.int/meteosat-third-generation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https://user.eumetsat.int/resources/user-guides/mtg-in-operations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Flexible Combined Imager FCI</a:t>
            </a:r>
          </a:p>
          <a:p>
            <a:pPr lvl="0" indent="0" marL="0">
              <a:buNone/>
            </a:pPr>
            <a:r>
              <a:rPr/>
              <a:t>Full Earth disk every 10 minutes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λc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Δλ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 0.4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0.444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 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0.510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 0.6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 km 0.5 km (HR)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 0.8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0.865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 0.9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0.914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NIR 1.3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1.380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NIR 1.6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1.610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NIR 2.2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2.250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 km 0.5 km (HR)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 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3.800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 km 1.0 km (HR)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WV 6.3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WV 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7.350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 8.7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8.700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 9.7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9.660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 10.5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10.500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 km 1.0 km (HR)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 12.3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12.300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 km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 13.3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13.300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0.600 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 km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λc: Central wavelength [μm], Δλ: Spectral width [μm], SSD: Spatial Sampling Distance [km]</a:t>
            </a:r>
            <a:r>
              <a:rPr/>
              <a:t> </a:t>
            </a:r>
            <a:r>
              <a:rPr i="1"/>
              <a:t>Channels: VIS (Visible), NIR (Near IR), IR (Infrared), WV (Water Vapour)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https://user.eumetsat.int/resources/user-guides/mtg-fci-level-1c-data-guide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EUMETSAT MTG available products (2026-02-01)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Accumulated precipitation at ground by blended MW+IR and FCI</a:t>
            </a:r>
          </a:p>
          <a:p>
            <a:pPr lvl="0"/>
            <a:r>
              <a:rPr/>
              <a:t>Active Fire Monitoring (CAP, netCDF)</a:t>
            </a:r>
          </a:p>
          <a:p>
            <a:pPr lvl="0"/>
            <a:r>
              <a:rPr/>
              <a:t>All Sky Radiance (BUFR, netCDF)</a:t>
            </a:r>
          </a:p>
          <a:p>
            <a:pPr lvl="0"/>
            <a:r>
              <a:rPr/>
              <a:t>Atmospheric Motion Vectors (BUFR, netCDF)</a:t>
            </a:r>
          </a:p>
          <a:p>
            <a:pPr lvl="0"/>
            <a:r>
              <a:rPr/>
              <a:t>Clear Sky Reflectance Map</a:t>
            </a:r>
          </a:p>
          <a:p>
            <a:pPr lvl="0"/>
            <a:r>
              <a:rPr/>
              <a:t>Cloud Mask (GRIB2, netCDF)</a:t>
            </a:r>
          </a:p>
          <a:p>
            <a:pPr lvl="0"/>
            <a:r>
              <a:rPr/>
              <a:t>Cloud Top Temperature and Height</a:t>
            </a:r>
          </a:p>
          <a:p>
            <a:pPr lvl="0"/>
            <a:r>
              <a:rPr/>
              <a:t>Cloud Type</a:t>
            </a:r>
          </a:p>
          <a:p>
            <a:pPr lvl="0"/>
            <a:r>
              <a:rPr/>
              <a:t>FCI Level 1c High Resolution Image Data</a:t>
            </a:r>
          </a:p>
          <a:p>
            <a:pPr lvl="0"/>
            <a:r>
              <a:rPr/>
              <a:t>FCI Level 1c Normal Resolution Image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FCI Level 3 Sea Surface Temperature</a:t>
            </a:r>
          </a:p>
          <a:p>
            <a:pPr lvl="0"/>
            <a:r>
              <a:rPr/>
              <a:t>FCI Snow detection (snow mask) by VIS/NIR radiometry</a:t>
            </a:r>
          </a:p>
          <a:p>
            <a:pPr lvl="0"/>
            <a:r>
              <a:rPr/>
              <a:t>Global Instability Indices</a:t>
            </a:r>
          </a:p>
          <a:p>
            <a:pPr lvl="0"/>
            <a:r>
              <a:rPr/>
              <a:t>LI Accumulated Flash Area</a:t>
            </a:r>
          </a:p>
          <a:p>
            <a:pPr lvl="0"/>
            <a:r>
              <a:rPr/>
              <a:t>LI Accumulated Flash Radiance</a:t>
            </a:r>
          </a:p>
          <a:p>
            <a:pPr lvl="0"/>
            <a:r>
              <a:rPr/>
              <a:t>LI Accumulated Flashes</a:t>
            </a:r>
          </a:p>
          <a:p>
            <a:pPr lvl="0"/>
            <a:r>
              <a:rPr/>
              <a:t>LI Lightning Events Filtered</a:t>
            </a:r>
          </a:p>
          <a:p>
            <a:pPr lvl="0"/>
            <a:r>
              <a:rPr/>
              <a:t>LI Lightning Flashes</a:t>
            </a:r>
          </a:p>
          <a:p>
            <a:pPr lvl="0"/>
            <a:r>
              <a:rPr/>
              <a:t>LI Lightning Groups</a:t>
            </a:r>
          </a:p>
          <a:p>
            <a:pPr lvl="0"/>
            <a:r>
              <a:rPr/>
              <a:t>Land Surface Temperature</a:t>
            </a:r>
          </a:p>
          <a:p>
            <a:pPr lvl="0"/>
            <a:r>
              <a:rPr/>
              <a:t>Optimal Cloud Analysis</a:t>
            </a:r>
          </a:p>
          <a:p>
            <a:pPr lvl="0"/>
            <a:r>
              <a:rPr/>
              <a:t>Outgoing LW radiation at TOA</a:t>
            </a:r>
          </a:p>
          <a:p>
            <a:pPr lvl="0"/>
            <a:r>
              <a:rPr/>
              <a:t>Precipitation rate at ground by blended FCI IR / LEO MW precipitation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https://data.eumetsat.int/extended?query=mtg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FCI composites (MTG-I)</a:t>
            </a:r>
          </a:p>
          <a:p>
            <a:pPr lvl="0" indent="0" marL="0">
              <a:buNone/>
            </a:pPr>
            <a:r>
              <a:rPr/>
              <a:t>Predefined composites of wavelengths…</a:t>
            </a:r>
          </a:p>
          <a:p>
            <a:pPr lvl="0" indent="0">
              <a:buNone/>
            </a:pPr>
            <a:r>
              <a:rPr>
                <a:latin typeface="Courier"/>
              </a:rPr>
              <a:t>from satpy import Scene
scn = Scene(filenames = files, reader = 'fci_l1c_nc')
print(scn.available_composite_names())</a:t>
            </a:r>
          </a:p>
          <a:p>
            <a:pPr lvl="0" indent="0" marL="0">
              <a:buNone/>
            </a:pPr>
            <a:r>
              <a:rPr/>
              <a:t>24h_microphysics, airmass, ash, cimss_cloud_type, cimss_cloud_type_raw, cloud_phase, cloud_phase_distinction, cloud_phase_distinction_raw, cloud_phase_raw, cloud_phase_with_night_ir105, cloud_type, cloud_type_with_night_ir105, cloudtop, colorized_ir_clouds, convection, day_essl_colorized_low_level_moisture, day_essl_low_level_moisture, day_microphysics, day_severe_storms, day_severe_storms_tropical, </a:t>
            </a:r>
            <a:r>
              <a:rPr b="1"/>
              <a:t>dust</a:t>
            </a:r>
            <a:r>
              <a:rPr/>
              <a:t>, essl_colorized_low_level_moisture, essl_low_level_moisture, fci_fire_channels_sum, fire_temperature, fire_temperature_38refl, fire_temperature_rad, flames_masked, fog, geo_color, geo_color_background_with_low_clouds, geo_color_high_clouds, geo_color_low_clouds, geo_color_night, green_snow, hrv_clouds, ir108_3d, ir_cloud_day, ir_sandwich, ir_sandwich_with_night_colorized_ir_clouds, </a:t>
            </a:r>
            <a:r>
              <a:rPr b="1"/>
              <a:t>natural_color</a:t>
            </a:r>
            <a:r>
              <a:rPr/>
              <a:t>, natural_color_raw, ndvi_hybrid_green, ndvi_hybrid_green_fully_sunzencorrected, ndvi_hybrid_green_raw, night_fog, night_ir105, night_ir_alpha, night_ir_with_background, night_ir_with_background_hires, night_microphysics, night_microphysics_tropical, overshooting_tops, rocket_plume_day, rocket_plume_night, simple_fci_fire_mask, snow, true_color, true_color_flames_with_night_ir105, true_color_fully_sunzencorrected, true_color_raw, true_color_raw_with_corrected_green, true_color_reproduction, true_color_reproduction_corr, true_color_reproduction_uncorr, true_color_with_night_ir, true_color_with_night_ir105, true_color_with_night_ir_hires, volcanic_emissions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 Lightning Imager (MTG-I)</a:t>
            </a:r>
          </a:p>
          <a:p>
            <a:pPr lvl="0" indent="0" marL="0">
              <a:buNone/>
            </a:pPr>
            <a:r>
              <a:rPr/>
              <a:t>LI Lightning Imager Groups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group_time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UTC time of the group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latitude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Avg latitude of the events in the group weighted by the event radiance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longitude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Avg longitude of the events in the group weighted by the event radiance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radiance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radiance of the group (</a:t>
                      </a:r>
                      <a:r>
                        <a:rPr>
                          <a:hlinkClick r:id="rId2"/>
                        </a:rPr>
                        <a:t>Optical Characteristics of OTD Flashes and the Implications…</a:t>
                      </a:r>
                      <a:r>
                        <a:rPr>
                          <a:hlinkClick r:id="rId3"/>
                        </a:rPr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number_of_events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events in the group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flash_id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 of the flash that allows one to relate the groups in the LI-2-LGR-x-FD-x to the LI-2-LFL-x-FD-x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group_filter_qa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Quality of the group computed at the group-rejection step (</a:t>
                      </a:r>
                      <a:r>
                        <a:rPr>
                          <a:hlinkClick r:id="rId4"/>
                        </a:rPr>
                        <a:t>Rejection of groups prior to the comp…</a:t>
                      </a:r>
                      <a:r>
                        <a:rPr/>
                        <a:t>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variables in LI-2-LGR-x-FD-x.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https://user.eumetsat.int/resources/user-guides/mtg-li-level-2-data-guide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 Lightning Imager (MTG-I)</a:t>
            </a:r>
          </a:p>
          <a:p>
            <a:pPr lvl="0" indent="0" marL="0">
              <a:buNone/>
            </a:pPr>
            <a:r>
              <a:rPr/>
              <a:t>LI Lightning Imager Flashes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flash_time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UTC time of the first group in the flash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flash_duration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Duration of the flash, ie, time difference between the first a the last group of the flash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latitude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Average latitude of the events in the flash weighted by the event radiance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longitude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Average longitude of the events in the flash weighted by the event radiance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radiance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radiance of the flash (</a:t>
                      </a:r>
                      <a:r>
                        <a:rPr>
                          <a:hlinkClick r:id="rId2"/>
                        </a:rPr>
                        <a:t>Optical Characteristics of OTD Flashes and the Implications…</a:t>
                      </a:r>
                      <a:r>
                        <a:rPr/>
                        <a:t>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number_of_events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events in the flash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number_of_groups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groups in the flash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flash_footprint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Size of the flash footprint in number of pixels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flash_id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 of the flash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flash_filter_confidence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Quality of the filter computed at the group-rejection step (</a:t>
                      </a:r>
                      <a:r>
                        <a:rPr>
                          <a:hlinkClick r:id="rId3"/>
                        </a:rPr>
                        <a:t>Rejection of flashes</a:t>
                      </a:r>
                      <a:r>
                        <a:rPr/>
                        <a:t>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variables in LI-2-LFL-x-FD-x.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https://user.eumetsat.int/resources/user-guides/mtg-li-level-2-data-guide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InfraRed Sounder IRS (MTG-S)</a:t>
            </a:r>
          </a:p>
          <a:p>
            <a:pPr lvl="0" indent="0" marL="0">
              <a:buNone/>
            </a:pPr>
            <a:r>
              <a:rPr b="1"/>
              <a:t>Hyperspectral infrared sounder</a:t>
            </a:r>
          </a:p>
          <a:p>
            <a:pPr lvl="0"/>
            <a:r>
              <a:rPr/>
              <a:t>Goal:</a:t>
            </a:r>
          </a:p>
          <a:p>
            <a:pPr lvl="1"/>
            <a:r>
              <a:rPr/>
              <a:t>Derive the evolution of vertically resolved water vapour structures</a:t>
            </a:r>
          </a:p>
          <a:p>
            <a:pPr lvl="1"/>
            <a:r>
              <a:rPr/>
              <a:t>Extract 3D wind fields with a vertical resolution ~ 2 km</a:t>
            </a:r>
          </a:p>
          <a:p>
            <a:pPr lvl="1"/>
            <a:r>
              <a:rPr/>
              <a:t>Track the 3D structures</a:t>
            </a:r>
          </a:p>
          <a:p>
            <a:pPr lvl="2"/>
            <a:r>
              <a:rPr/>
              <a:t>atmospheric water vapour and temperature</a:t>
            </a:r>
          </a:p>
          <a:p>
            <a:pPr lvl="2"/>
            <a:r>
              <a:rPr/>
              <a:t>carbon monoxide and pollution</a:t>
            </a:r>
          </a:p>
          <a:p>
            <a:pPr lvl="2"/>
            <a:r>
              <a:rPr/>
              <a:t>atmospheric dynamic variables</a:t>
            </a:r>
          </a:p>
          <a:p>
            <a:pPr lvl="0"/>
            <a:r>
              <a:rPr/>
              <a:t>Spatial: </a:t>
            </a:r>
            <a:r>
              <a:rPr b="1"/>
              <a:t>4km</a:t>
            </a:r>
            <a:r>
              <a:rPr/>
              <a:t> at nadir (1.025° x 1.025°)</a:t>
            </a:r>
          </a:p>
          <a:p>
            <a:pPr lvl="0"/>
            <a:r>
              <a:rPr/>
              <a:t>Temporal: 15 – 30 minutes for local zones, </a:t>
            </a:r>
            <a:r>
              <a:rPr b="1"/>
              <a:t>60 minutes</a:t>
            </a:r>
            <a:r>
              <a:rPr/>
              <a:t> for full disk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InfraRed Sounder IRS (MTG-S)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Wavenumber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Targets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Long Wave IR (LWIR)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679.5 – 1210.0 cm</a:t>
                      </a:r>
                      <a:r>
                        <a:rPr baseline="30000"/>
                        <a:t>-1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H2O, CO2, O3, Surface, Clouds, Aerosols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 Wave IR (MWIR)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1600.0 – 2250.4 cm</a:t>
                      </a:r>
                      <a:r>
                        <a:rPr baseline="30000"/>
                        <a:t>-1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H2O, CO, N20, 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Vertical resolution TBD … (~ 2km)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https://user.eumetsat.int/resources/user-guides/mtg-irs-level-1-data-guide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InfraRed Sounder IRS (MTG-S)</a:t>
            </a:r>
          </a:p>
          <a:p>
            <a:pPr lvl="0" indent="0" marL="0">
              <a:buNone/>
            </a:pPr>
            <a:r>
              <a:rPr/>
              <a:t>L2 data</a:t>
            </a:r>
          </a:p>
          <a:p>
            <a:pPr lvl="0"/>
            <a:r>
              <a:rPr/>
              <a:t>Temperature, humidity and ozone profiles</a:t>
            </a:r>
          </a:p>
          <a:p>
            <a:pPr lvl="0"/>
            <a:r>
              <a:rPr/>
              <a:t>Earth Surface parameters</a:t>
            </a:r>
          </a:p>
          <a:p>
            <a:pPr lvl="0"/>
            <a:r>
              <a:rPr/>
              <a:t>Instability indices and total vertical column</a:t>
            </a:r>
          </a:p>
          <a:p>
            <a:pPr lvl="0"/>
            <a:r>
              <a:rPr/>
              <a:t>Cloud products</a:t>
            </a:r>
          </a:p>
          <a:p>
            <a:pPr lvl="0"/>
            <a:r>
              <a:rPr/>
              <a:t>Contextual parameters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Test/Simulated data available here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https://user.eumetsat.int/resources/user-guides/mtg-irs-level-1-data-guide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Spectral coverage</a:t>
            </a:r>
          </a:p>
        </p:txBody>
      </p:sp>
      <p:pic>
        <p:nvPicPr>
          <p:cNvPr descr="images/IASI_CrIS_FCI_I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Infrared Atmospheric Sounding Interferometer (LEO),</a:t>
            </a:r>
            <a:br/>
            <a:r>
              <a:rPr/>
              <a:t>Cross-track Infrared Sounder (LEO),</a:t>
            </a:r>
            <a:br/>
            <a:r>
              <a:rPr/>
              <a:t>MTG InfraRed Sounder (GEO),</a:t>
            </a:r>
            <a:br/>
            <a:r>
              <a:rPr/>
              <a:t>MTG Flexible Combined Imager (GEO)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user.eumetsat.int/resources/user-guides/mtg-irs-level-1-data-guide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Sentinel-4/Ultraviolet, Visible and Near-infrared Spectrometer (S4 / UVN) (MTG-S)</a:t>
            </a:r>
          </a:p>
          <a:p>
            <a:pPr lvl="0" indent="0" marL="0">
              <a:buNone/>
            </a:pPr>
            <a:r>
              <a:rPr b="1"/>
              <a:t>objective</a:t>
            </a:r>
            <a:r>
              <a:rPr/>
              <a:t>: Observe the diurnal cycle of the tropospheric composition, trace gases, aerosol and cloud properties</a:t>
            </a:r>
          </a:p>
          <a:p>
            <a:pPr lvl="0" indent="0" marL="0">
              <a:buNone/>
            </a:pPr>
            <a:r>
              <a:rPr/>
              <a:t>O3 (Ozone), NO2 (Nitrogen dioxide), SO2 (Sulfur dioxide), HCHO (Formaldehyde), CHOCHO (glyoxal)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Instrument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Passive imaging spectrometer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Spectrometric bands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  <a:r>
                        <a:rPr/>
                        <a:t>, Ultraviolet (305-400 nm), Visible (400-500 nm) and Near Infrared(750-775 nm) </a:t>
                      </a:r>
                      <a:r>
                        <a:rPr baseline="30000">
                          <a:hlinkClick r:id="rId2" action="ppaction://hlinksldjump"/>
                        </a:rPr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Spectrometric channels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  <a:r>
                        <a:rPr/>
                        <a:t>, (UV-VIS channel; NIR channel)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 Of 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E-W: 30°W-46.5°E @ 40°N, N-S: 30°N-65°N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Spatial resolution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x 8 km</a:t>
                      </a:r>
                      <a:r>
                        <a:rPr baseline="30000"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Spectral resolution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 nm for the UV-VIS channel; 0.12 nm for the NIR channel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Radiometric accuracy (absolute)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3% (2% goal) of the measured sun irradiance, earth radiance and spectral reflectance.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Revisit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 60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Sentinel-4/Ultraviolet, Visible and Near-infrared Spectrometer (S4 / UVN) (MTG-S)</a:t>
            </a:r>
          </a:p>
          <a:p>
            <a:pPr lvl="0" indent="0" marL="0">
              <a:buNone/>
            </a:pPr>
            <a:r>
              <a:rPr/>
              <a:t>L1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Level-1B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Earth Radiance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Spectrally and radiometrically calibrated and geo-located Earth radiance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 all 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Solar Irradiance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Spectrally and radiometrically calibrated Solar irradiance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 all 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DPPF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Processing Parameters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 Expert 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Calibration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Calibration data.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 Expert 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 calibration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 Expert 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Diagnostic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Instrument diagnostic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 Expert Users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Sentinel-4/Ultraviolet, Visible and Near-infrared Spectrometer (S4 / UVN)</a:t>
            </a:r>
          </a:p>
          <a:p>
            <a:pPr lvl="0" indent="0" marL="0">
              <a:buNone/>
            </a:pPr>
            <a:r>
              <a:rPr/>
              <a:t>L2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Level-2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Parameter(s)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Ozone (O3) total column, tropospheric sub-column,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Nitrogen dioxide (NO2) total column, tropospheric sub-column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Sulfur dioxide (SO2) total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HCHO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Formaldehyde (HCHO) total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CHOCHO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Glyoxal (CHOCHO) total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optical thickness, cloud fraction, cloud altitude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Aerosol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Aerosol column optical thickness, type, layer height, absorbing index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Surface and aerosol characteristics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https://sentinels.copernicus.eu/missions/sentinel-4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data resources</a:t>
            </a:r>
          </a:p>
          <a:p>
            <a:pPr lvl="0"/>
            <a:r>
              <a:rPr>
                <a:hlinkClick r:id="rId3"/>
              </a:rPr>
              <a:t>EUMETSAT data store</a:t>
            </a:r>
            <a:r>
              <a:rPr/>
              <a:t> / </a:t>
            </a:r>
            <a:r>
              <a:rPr>
                <a:hlinkClick r:id="rId4"/>
              </a:rPr>
              <a:t>EUMETSAT data catalogue</a:t>
            </a:r>
          </a:p>
          <a:p>
            <a:pPr lvl="0"/>
            <a:r>
              <a:rPr>
                <a:hlinkClick r:id="rId5"/>
              </a:rPr>
              <a:t>EUMETSAT ‘data archive’</a:t>
            </a:r>
          </a:p>
          <a:p>
            <a:pPr lvl="0"/>
            <a:r>
              <a:rPr/>
              <a:t>Satellite Application Facilities SAF</a:t>
            </a:r>
          </a:p>
          <a:p>
            <a:pPr lvl="1"/>
            <a:r>
              <a:rPr>
                <a:hlinkClick r:id="rId6"/>
              </a:rPr>
              <a:t>AC SAF, Atmospheric Composition Monitoring</a:t>
            </a:r>
            <a:r>
              <a:rPr/>
              <a:t>, ozone, trace gases, aerosols and ultraviolet data</a:t>
            </a:r>
          </a:p>
          <a:p>
            <a:pPr lvl="1"/>
            <a:r>
              <a:rPr>
                <a:hlinkClick r:id="rId7"/>
              </a:rPr>
              <a:t>H SAF, Operational Hydrology and Water Management</a:t>
            </a:r>
            <a:r>
              <a:rPr/>
              <a:t>, data for operational hydrological</a:t>
            </a:r>
          </a:p>
          <a:p>
            <a:pPr lvl="1"/>
            <a:r>
              <a:rPr>
                <a:hlinkClick r:id="rId8"/>
              </a:rPr>
              <a:t>LSA SAF, Land Surface Analysis</a:t>
            </a:r>
            <a:r>
              <a:rPr/>
              <a:t>, land, land-atmosphere interactions and biosphere</a:t>
            </a:r>
          </a:p>
          <a:p>
            <a:pPr lvl="1"/>
            <a:r>
              <a:rPr>
                <a:hlinkClick r:id="rId9"/>
              </a:rPr>
              <a:t>NWC SAF, Nowcasting and Very Short Range Forecasting</a:t>
            </a:r>
            <a:r>
              <a:rPr/>
              <a:t>, forecast for the next few hours</a:t>
            </a:r>
          </a:p>
          <a:p>
            <a:pPr lvl="1"/>
            <a:r>
              <a:rPr>
                <a:hlinkClick r:id="rId10"/>
              </a:rPr>
              <a:t>NWP SAF, Numerical Weather Prediction</a:t>
            </a:r>
            <a:r>
              <a:rPr/>
              <a:t>, interface between satellite data and European activities in NWP</a:t>
            </a:r>
          </a:p>
          <a:p>
            <a:pPr lvl="1"/>
            <a:r>
              <a:rPr>
                <a:hlinkClick r:id="rId11"/>
              </a:rPr>
              <a:t>OSI SAF, Ocean and Sea Ice</a:t>
            </a:r>
            <a:r>
              <a:rPr/>
              <a:t>, ocean-atmosphere interface</a:t>
            </a:r>
          </a:p>
          <a:p>
            <a:pPr lvl="1"/>
            <a:r>
              <a:rPr>
                <a:hlinkClick r:id="rId12"/>
              </a:rPr>
              <a:t>ROM SAF, Radio Occultation Meteorology</a:t>
            </a:r>
            <a:r>
              <a:rPr/>
              <a:t>, high-quality GNSS Radio Occultation (RO) data for NWP and climate application areas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reference resources</a:t>
            </a:r>
          </a:p>
          <a:p>
            <a:pPr lvl="0"/>
            <a:r>
              <a:rPr>
                <a:hlinkClick r:id="rId2"/>
              </a:rPr>
              <a:t>EUMETView</a:t>
            </a:r>
            <a:r>
              <a:rPr/>
              <a:t>, interactive map and product explorer</a:t>
            </a:r>
          </a:p>
          <a:p>
            <a:pPr lvl="0"/>
            <a:r>
              <a:rPr>
                <a:hlinkClick r:id="rId3"/>
              </a:rPr>
              <a:t>EUMETSAT User Portal</a:t>
            </a:r>
            <a:r>
              <a:rPr/>
              <a:t>, guides and products references</a:t>
            </a:r>
          </a:p>
          <a:p>
            <a:pPr lvl="1"/>
            <a:r>
              <a:rPr/>
              <a:t>Training</a:t>
            </a:r>
          </a:p>
          <a:p>
            <a:pPr lvl="1"/>
            <a:r>
              <a:rPr/>
              <a:t>Software</a:t>
            </a:r>
          </a:p>
          <a:p>
            <a:pPr lvl="1"/>
            <a:r>
              <a:rPr/>
              <a:t>Guides</a:t>
            </a:r>
          </a:p>
          <a:p>
            <a:pPr lvl="1"/>
            <a:r>
              <a:rPr/>
              <a:t>……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Land Surface Analysis LSA SAF available products</a:t>
            </a:r>
          </a:p>
          <a:p>
            <a:pPr lvl="0"/>
            <a:r>
              <a:rPr/>
              <a:t>Land Surface Albedo (MTDAL)</a:t>
            </a:r>
          </a:p>
          <a:p>
            <a:pPr lvl="0"/>
            <a:r>
              <a:rPr/>
              <a:t>Fire Radiative Power (MTFRP)</a:t>
            </a:r>
          </a:p>
          <a:p>
            <a:pPr lvl="0"/>
            <a:r>
              <a:rPr/>
              <a:t>Land Surface Temperature (MTLST)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https://datalsasaf.lsasvcs.ipma.pt/PRODUCTS/MTG/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Atmospheric Composition Monitoring AC SAF available products</a:t>
            </a:r>
          </a:p>
          <a:p>
            <a:pPr lvl="0" indent="0" marL="0">
              <a:buNone/>
            </a:pPr>
            <a:r>
              <a:rPr b="1"/>
              <a:t>NRT products</a:t>
            </a:r>
          </a:p>
          <a:p>
            <a:pPr lvl="0"/>
            <a:r>
              <a:rPr/>
              <a:t>Total ozone column</a:t>
            </a:r>
          </a:p>
          <a:p>
            <a:pPr lvl="0"/>
            <a:r>
              <a:rPr/>
              <a:t>Total and tropospheric NO2 columns</a:t>
            </a:r>
          </a:p>
          <a:p>
            <a:pPr lvl="0"/>
            <a:r>
              <a:rPr/>
              <a:t>Total SO2 column</a:t>
            </a:r>
          </a:p>
          <a:p>
            <a:pPr lvl="0"/>
            <a:r>
              <a:rPr/>
              <a:t>Total HCHO column</a:t>
            </a:r>
          </a:p>
          <a:p>
            <a:pPr lvl="0"/>
            <a:r>
              <a:rPr/>
              <a:t>High-resolution ozone profile</a:t>
            </a:r>
          </a:p>
          <a:p>
            <a:pPr lvl="0"/>
            <a:r>
              <a:rPr/>
              <a:t>Absorbing aerosol height</a:t>
            </a:r>
          </a:p>
          <a:p>
            <a:pPr lvl="0"/>
            <a:r>
              <a:rPr/>
              <a:t>Absorbing aerosol index from PMDs</a:t>
            </a:r>
          </a:p>
          <a:p>
            <a:pPr lvl="0"/>
            <a:r>
              <a:rPr/>
              <a:t>Global 1-day UV index forecast</a:t>
            </a:r>
          </a:p>
          <a:p>
            <a:pPr lvl="0"/>
            <a:r>
              <a:rPr/>
              <a:t>Global tropospheric ozone column</a:t>
            </a:r>
          </a:p>
          <a:p>
            <a:pPr lvl="0"/>
            <a:r>
              <a:rPr/>
              <a:t>IASI CO</a:t>
            </a:r>
          </a:p>
          <a:p>
            <a:pPr lvl="0"/>
            <a:r>
              <a:rPr/>
              <a:t>IASI SO2</a:t>
            </a:r>
          </a:p>
          <a:p>
            <a:pPr lvl="0"/>
            <a:r>
              <a:rPr/>
              <a:t>IASI HNO3</a:t>
            </a:r>
          </a:p>
          <a:p>
            <a:pPr lvl="0"/>
            <a:r>
              <a:rPr/>
              <a:t>IASI total O3 and O3 profiles</a:t>
            </a:r>
          </a:p>
          <a:p>
            <a:pPr lvl="0" indent="0" marL="0">
              <a:buNone/>
            </a:pPr>
            <a:r>
              <a:rPr b="1"/>
              <a:t>Offline products</a:t>
            </a:r>
          </a:p>
          <a:p>
            <a:pPr lvl="0"/>
            <a:r>
              <a:rPr/>
              <a:t>Total ozone column</a:t>
            </a:r>
          </a:p>
          <a:p>
            <a:pPr lvl="0"/>
            <a:r>
              <a:rPr/>
              <a:t>Total and tropospheric NO2 columns</a:t>
            </a:r>
          </a:p>
          <a:p>
            <a:pPr lvl="0"/>
            <a:r>
              <a:rPr/>
              <a:t>Total SO2 column</a:t>
            </a:r>
          </a:p>
          <a:p>
            <a:pPr lvl="0"/>
            <a:r>
              <a:rPr/>
              <a:t>Total BrO column</a:t>
            </a:r>
          </a:p>
          <a:p>
            <a:pPr lvl="0"/>
            <a:r>
              <a:rPr/>
              <a:t>Total HCHO column</a:t>
            </a:r>
          </a:p>
          <a:p>
            <a:pPr lvl="0"/>
            <a:r>
              <a:rPr/>
              <a:t>Total H2O column</a:t>
            </a:r>
          </a:p>
          <a:p>
            <a:pPr lvl="0"/>
            <a:r>
              <a:rPr/>
              <a:t>High-resolution ozone profile</a:t>
            </a:r>
          </a:p>
          <a:p>
            <a:pPr lvl="0"/>
            <a:r>
              <a:rPr/>
              <a:t>Absorbing aerosol height</a:t>
            </a:r>
          </a:p>
          <a:p>
            <a:pPr lvl="0"/>
            <a:r>
              <a:rPr/>
              <a:t>Absorbing aerosol index from PMDs</a:t>
            </a:r>
          </a:p>
          <a:p>
            <a:pPr lvl="0"/>
            <a:r>
              <a:rPr/>
              <a:t>Surface UV</a:t>
            </a:r>
          </a:p>
          <a:p>
            <a:pPr lvl="0"/>
            <a:r>
              <a:rPr/>
              <a:t>Tropical tropospheric ozone column</a:t>
            </a:r>
          </a:p>
          <a:p>
            <a:pPr lvl="0"/>
            <a:r>
              <a:rPr/>
              <a:t>Global tropospheric ozone column</a:t>
            </a:r>
          </a:p>
          <a:p>
            <a:pPr lvl="0"/>
            <a:r>
              <a:rPr/>
              <a:t>GOME-2 level 3 daily trace gas columns</a:t>
            </a:r>
          </a:p>
          <a:p>
            <a:pPr lvl="0"/>
            <a:r>
              <a:rPr/>
              <a:t>GOME-2 level 3 monthly trace gas columns</a:t>
            </a:r>
          </a:p>
          <a:p>
            <a:pPr lvl="0" indent="0" marL="0">
              <a:buNone/>
            </a:pPr>
            <a:r>
              <a:rPr b="1"/>
              <a:t>Data records</a:t>
            </a:r>
          </a:p>
          <a:p>
            <a:pPr lvl="0"/>
            <a:r>
              <a:rPr/>
              <a:t>Total ozone column</a:t>
            </a:r>
          </a:p>
          <a:p>
            <a:pPr lvl="0"/>
            <a:r>
              <a:rPr/>
              <a:t>Total and tropospheric NO2 columns</a:t>
            </a:r>
          </a:p>
          <a:p>
            <a:pPr lvl="0"/>
            <a:r>
              <a:rPr/>
              <a:t>Total SO2 column</a:t>
            </a:r>
          </a:p>
          <a:p>
            <a:pPr lvl="0"/>
            <a:r>
              <a:rPr/>
              <a:t>Total BrO column</a:t>
            </a:r>
          </a:p>
          <a:p>
            <a:pPr lvl="0"/>
            <a:r>
              <a:rPr/>
              <a:t>Total HCHO column</a:t>
            </a:r>
          </a:p>
          <a:p>
            <a:pPr lvl="0"/>
            <a:r>
              <a:rPr/>
              <a:t>Total H2O column</a:t>
            </a:r>
          </a:p>
          <a:p>
            <a:pPr lvl="0"/>
            <a:r>
              <a:rPr/>
              <a:t>OCIO column</a:t>
            </a:r>
          </a:p>
          <a:p>
            <a:pPr lvl="0"/>
            <a:r>
              <a:rPr/>
              <a:t>Total CHOCHO column</a:t>
            </a:r>
          </a:p>
          <a:p>
            <a:pPr lvl="0"/>
            <a:r>
              <a:rPr/>
              <a:t>NO2 and H2O climate data records</a:t>
            </a:r>
          </a:p>
          <a:p>
            <a:pPr lvl="0"/>
            <a:r>
              <a:rPr/>
              <a:t>Tropospheric BrO column</a:t>
            </a:r>
          </a:p>
          <a:p>
            <a:pPr lvl="0"/>
            <a:r>
              <a:rPr/>
              <a:t>High-resolution ozone profile</a:t>
            </a:r>
          </a:p>
          <a:p>
            <a:pPr lvl="0"/>
            <a:r>
              <a:rPr/>
              <a:t>Absorbing aerosol height</a:t>
            </a:r>
          </a:p>
          <a:p>
            <a:pPr lvl="0"/>
            <a:r>
              <a:rPr/>
              <a:t>Absorbing aerosol index from PMDs</a:t>
            </a:r>
          </a:p>
          <a:p>
            <a:pPr lvl="0"/>
            <a:r>
              <a:rPr/>
              <a:t>Lambertian-equivalent reflectivity</a:t>
            </a:r>
          </a:p>
          <a:p>
            <a:pPr lvl="0"/>
            <a:r>
              <a:rPr/>
              <a:t>Surface UV</a:t>
            </a:r>
          </a:p>
          <a:p>
            <a:pPr lvl="0"/>
            <a:r>
              <a:rPr/>
              <a:t>IASI L2 O3</a:t>
            </a:r>
          </a:p>
          <a:p>
            <a:pPr lvl="0"/>
            <a:r>
              <a:rPr/>
              <a:t>IASI L2 CO</a:t>
            </a:r>
          </a:p>
          <a:p>
            <a:pPr lvl="0"/>
            <a:r>
              <a:rPr/>
              <a:t>IASI L2 SO2</a:t>
            </a:r>
          </a:p>
          <a:p>
            <a:pPr lvl="0" indent="0" marL="0">
              <a:buNone/>
            </a:pPr>
            <a:r>
              <a:rPr b="1"/>
              <a:t>Demonstrational products</a:t>
            </a:r>
          </a:p>
          <a:p>
            <a:pPr lvl="0"/>
            <a:r>
              <a:rPr/>
              <a:t>Daily IASI NH3 product</a:t>
            </a:r>
          </a:p>
          <a:p>
            <a:pPr lvl="0"/>
            <a:r>
              <a:rPr/>
              <a:t>Daily IASI dust product</a:t>
            </a:r>
          </a:p>
          <a:p>
            <a:pPr lvl="0"/>
            <a:r>
              <a:rPr/>
              <a:t>European UV product/data record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acsaf.org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MTG in operations</a:t>
            </a:r>
            <a:br/>
            <a:r>
              <a:rPr/>
              <a:t>Current status and operational information</a:t>
            </a:r>
          </a:p>
          <a:p>
            <a:pPr lvl="0"/>
            <a:r>
              <a:rPr>
                <a:hlinkClick r:id="rId3"/>
              </a:rPr>
              <a:t>MTG test data</a:t>
            </a:r>
            <a:br/>
            <a:r>
              <a:rPr/>
              <a:t>If you want to test possible applications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This was an overview of the MTG satellites and data</a:t>
            </a:r>
          </a:p>
          <a:p>
            <a:pPr lvl="0" indent="0" marL="0">
              <a:buNone/>
            </a:pPr>
            <a:r>
              <a:rPr b="1" i="1"/>
              <a:t>ευχαριστώ! thanks!</a:t>
            </a:r>
          </a:p>
          <a:p>
            <a:pPr lvl="0" indent="0" marL="0">
              <a:buNone/>
            </a:pPr>
            <a:r>
              <a:rPr/>
              <a:t>contact: </a:t>
            </a:r>
            <a:r>
              <a:rPr b="1">
                <a:hlinkClick r:id="rId2"/>
              </a:rPr>
              <a:t>anatsis@noa.gr</a:t>
            </a:r>
          </a:p>
          <a:p>
            <a:pPr lvl="0" indent="0" marL="0">
              <a:buNone/>
            </a:pPr>
            <a:r>
              <a:rPr/>
              <a:t>presentation: </a:t>
            </a:r>
            <a:r>
              <a:rPr b="1"/>
              <a:t>github.com/thanasisn/presentations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VIS and NIR bands implemented in two spectrometers UVVIS &amp; NIR)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MTG Satellites, Instruments and Data, a limited overview</dc:title>
  <dc:creator>Athanasios Natsis</dc:creator>
  <cp:keywords/>
  <dcterms:created xsi:type="dcterms:W3CDTF">2026-02-24T08:35:37Z</dcterms:created>
  <dcterms:modified xsi:type="dcterms:W3CDTF">2026-02-24T08:35:37Z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2026-02-25</vt:lpwstr>
  </property>
  <property fmtid="{D5CDD505-2E9C-101B-9397-08002B2CF9AE}" pid="3" name="output">
    <vt:lpwstr/>
  </property>
  <property fmtid="{D5CDD505-2E9C-101B-9397-08002B2CF9AE}" pid="4" name="subtitle">
    <vt:lpwstr>NOA/ReACT</vt:lpwstr>
  </property>
</Properties>
</file>